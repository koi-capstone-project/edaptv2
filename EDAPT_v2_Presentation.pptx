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7" r:id="rId16"/>
    <p:sldId id="284" r:id="rId17"/>
    <p:sldId id="270" r:id="rId18"/>
    <p:sldId id="285" r:id="rId19"/>
    <p:sldId id="286" r:id="rId20"/>
    <p:sldId id="288" r:id="rId21"/>
    <p:sldId id="272" r:id="rId22"/>
    <p:sldId id="283" r:id="rId23"/>
    <p:sldId id="282" r:id="rId24"/>
    <p:sldId id="273" r:id="rId25"/>
    <p:sldId id="274" r:id="rId26"/>
    <p:sldId id="276" r:id="rId27"/>
    <p:sldId id="279" r:id="rId28"/>
    <p:sldId id="280" r:id="rId29"/>
    <p:sldId id="28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4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CFE3EA"/>
                </a:solidFill>
                <a:latin typeface="IBM Plex Mono"/>
              </a:rPr>
              <a:t>CAPSTONE PROJECT — PHASE II — KING'S OWN 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9144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Manrope"/>
              </a:rPr>
              <a:t>EDAPT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8503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7D6DF"/>
                </a:solidFill>
                <a:latin typeface="Manrope"/>
              </a:rPr>
              <a:t>Educational Data Analytics &amp; Predictive Tool — a role-based analytics platform that turns disconnected CSV extracts into early, explainable warnings about student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9526"/>
            <a:ext cx="5486400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AU" sz="1050" b="0" dirty="0">
                <a:solidFill>
                  <a:srgbClr val="8CA5B3"/>
                </a:solidFill>
                <a:latin typeface="IBM Plex Mono"/>
              </a:rPr>
              <a:t>Prepared By:</a:t>
            </a:r>
          </a:p>
          <a:p>
            <a:pPr marL="228600" indent="-228600" algn="l">
              <a:buAutoNum type="arabicPeriod"/>
            </a:pPr>
            <a:r>
              <a:rPr lang="en-AU" sz="1050" dirty="0">
                <a:solidFill>
                  <a:srgbClr val="8CA5B3"/>
                </a:solidFill>
                <a:latin typeface="IBM Plex Mono"/>
              </a:rPr>
              <a:t>Griffins Leshan</a:t>
            </a:r>
          </a:p>
          <a:p>
            <a:pPr marL="228600" indent="-228600" algn="l">
              <a:buAutoNum type="arabicPeriod"/>
            </a:pPr>
            <a:r>
              <a:rPr lang="en-AU" sz="1050" dirty="0">
                <a:solidFill>
                  <a:srgbClr val="8CA5B3"/>
                </a:solidFill>
                <a:latin typeface="IBM Plex Mono"/>
              </a:rPr>
              <a:t>Gyani Bohara</a:t>
            </a:r>
          </a:p>
          <a:p>
            <a:pPr marL="228600" indent="-228600" algn="l">
              <a:buAutoNum type="arabicPeriod"/>
            </a:pPr>
            <a:r>
              <a:rPr lang="en-AU" sz="1050" dirty="0" err="1">
                <a:solidFill>
                  <a:srgbClr val="8CA5B3"/>
                </a:solidFill>
                <a:latin typeface="IBM Plex Mono"/>
              </a:rPr>
              <a:t>Koshish</a:t>
            </a:r>
            <a:r>
              <a:rPr lang="en-AU" sz="1050" dirty="0">
                <a:solidFill>
                  <a:srgbClr val="8CA5B3"/>
                </a:solidFill>
                <a:latin typeface="IBM Plex Mono"/>
              </a:rPr>
              <a:t> Shrestha</a:t>
            </a:r>
          </a:p>
          <a:p>
            <a:pPr marL="228600" indent="-228600" algn="l">
              <a:buAutoNum type="arabicPeriod"/>
            </a:pPr>
            <a:r>
              <a:rPr lang="en-AU" sz="1050" dirty="0">
                <a:solidFill>
                  <a:srgbClr val="8CA5B3"/>
                </a:solidFill>
                <a:latin typeface="IBM Plex Mono"/>
              </a:rPr>
              <a:t>Nitesh Bhatta</a:t>
            </a:r>
          </a:p>
          <a:p>
            <a:pPr marL="228600" indent="-228600" algn="l">
              <a:buAutoNum type="arabicPeriod"/>
            </a:pPr>
            <a:r>
              <a:rPr lang="en-AU" sz="1050" dirty="0">
                <a:solidFill>
                  <a:srgbClr val="8CA5B3"/>
                </a:solidFill>
                <a:latin typeface="IBM Plex Mono"/>
              </a:rPr>
              <a:t>Preeti Khatri</a:t>
            </a:r>
          </a:p>
          <a:p>
            <a:pPr marL="228600" indent="-228600" algn="l">
              <a:buAutoNum type="arabicPeriod"/>
            </a:pPr>
            <a:r>
              <a:rPr lang="en-AU" sz="1050" dirty="0">
                <a:solidFill>
                  <a:srgbClr val="8CA5B3"/>
                </a:solidFill>
                <a:latin typeface="IBM Plex Mono"/>
              </a:rPr>
              <a:t>Sangam Ghale Gurung</a:t>
            </a:r>
          </a:p>
          <a:p>
            <a:pPr marL="228600" indent="-228600" algn="l">
              <a:buAutoNum type="arabicPeriod"/>
            </a:pPr>
            <a:endParaRPr sz="1050" b="0" dirty="0">
              <a:solidFill>
                <a:srgbClr val="8CA5B3"/>
              </a:solidFill>
              <a:latin typeface="IBM Plex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RUNNING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b="0" dirty="0">
                <a:solidFill>
                  <a:srgbClr val="CFE3EA"/>
                </a:solidFill>
                <a:latin typeface="IBM Plex Mono"/>
              </a:rPr>
              <a:t>Presenter: Nitesh Bhatta</a:t>
            </a:r>
            <a:endParaRPr sz="1100" b="0" dirty="0">
              <a:solidFill>
                <a:srgbClr val="CFE3EA"/>
              </a:solidFill>
              <a:latin typeface="IBM Plex Mon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What we'll cover, and where it lives in the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18144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4864" cy="10515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130551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13055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§1–2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103119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The problem, who it's for, and what it's required to 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08959"/>
            <a:ext cx="518144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108959"/>
            <a:ext cx="54864" cy="10515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1832" y="3364991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36499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§3–4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3337559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Architecture, system design and the database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43399"/>
            <a:ext cx="518144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343399"/>
            <a:ext cx="54864" cy="10515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41832" y="4599431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459943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§5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4571999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The tech stack, the two models, and the build timeline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448" y="1874519"/>
            <a:ext cx="518144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24448" y="1874519"/>
            <a:ext cx="54864" cy="105156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80480" y="2130551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0480" y="213055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§6–7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0560" y="2103119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How we tested it, and what we actually found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4448" y="3108959"/>
            <a:ext cx="518144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24448" y="3108959"/>
            <a:ext cx="54864" cy="105156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580480" y="3364991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0480" y="336499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§8–9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0560" y="3337559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Ethics, fairness and security — including what's still open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24448" y="4343399"/>
            <a:ext cx="518144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24448" y="4343399"/>
            <a:ext cx="54864" cy="105156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80480" y="4599431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0480" y="459943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§11–12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0560" y="4571999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Benefits to KOI, what's next, and a live walkthrough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Foundations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Overview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02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BEFORE EDAPT ·</a:t>
            </a:r>
            <a:r>
              <a:rPr lang="en-AU" sz="1100" b="0" dirty="0">
                <a:solidFill>
                  <a:srgbClr val="CFE3EA"/>
                </a:solidFill>
                <a:latin typeface="IBM Plex Mono"/>
              </a:rPr>
              <a:t> </a:t>
            </a:r>
            <a:r>
              <a:rPr sz="1100" b="0" dirty="0">
                <a:solidFill>
                  <a:srgbClr val="CFE3EA"/>
                </a:solidFill>
                <a:latin typeface="IBM Plex Mono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Nitesh Bhatta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Academic risk was found by accident, not by design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828800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BM Plex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810512"/>
            <a:ext cx="4614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  <a:latin typeface="Manrope"/>
              </a:rPr>
              <a:t>Assessment &amp; attendance data sat in CSV dumps too large to read by hand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788920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BM Plex Mon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770632"/>
            <a:ext cx="4614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  <a:latin typeface="Manrope"/>
              </a:rPr>
              <a:t>Risk was flagged only after a staff member happened to notice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749040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749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BM Plex Mon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3730752"/>
            <a:ext cx="4614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  <a:latin typeface="Manrope"/>
              </a:rPr>
              <a:t>No standard way to compare subjects, cohorts, or terms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8" y="1828800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4448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BM Plex Mono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1376" y="1810512"/>
            <a:ext cx="4614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  <a:latin typeface="Manrope"/>
              </a:rPr>
              <a:t>Manual aggregation carried a real risk of human error</a:t>
            </a:r>
          </a:p>
        </p:txBody>
      </p:sp>
      <p:sp>
        <p:nvSpPr>
          <p:cNvPr id="20" name="Oval 19"/>
          <p:cNvSpPr/>
          <p:nvPr/>
        </p:nvSpPr>
        <p:spPr>
          <a:xfrm>
            <a:off x="6324448" y="2788920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4448" y="27889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BM Plex Mono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1376" y="2770632"/>
            <a:ext cx="4614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  <a:latin typeface="Manrope"/>
              </a:rPr>
              <a:t>Nothing predicted an outcome before it had already happened</a:t>
            </a:r>
          </a:p>
        </p:txBody>
      </p:sp>
      <p:sp>
        <p:nvSpPr>
          <p:cNvPr id="23" name="Oval 22"/>
          <p:cNvSpPr/>
          <p:nvPr/>
        </p:nvSpPr>
        <p:spPr>
          <a:xfrm>
            <a:off x="6324448" y="3749040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4448" y="3749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BM Plex Mono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1376" y="3730752"/>
            <a:ext cx="4614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  <a:latin typeface="Manrope"/>
              </a:rPr>
              <a:t>No channel to act on a flagged student directly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Foundations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§1.3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03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82296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CFE3EA"/>
                </a:solidFill>
                <a:latin typeface="IBM Plex Mono"/>
              </a:rPr>
              <a:t>THE AIM 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058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Manrope"/>
              </a:rPr>
              <a:t>Build a system KOI can trust to say WHY — not just who's at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C7D6DF"/>
                </a:solidFill>
                <a:latin typeface="Manrope"/>
              </a:rPr>
              <a:t>Descriptive and predictive analytics, evaluated to a technically and ethically defensible standard — not a black box, and not a single reported accuracy figure.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3CAA3-C709-6D9A-0331-08EBFBD03746}"/>
              </a:ext>
            </a:extLst>
          </p:cNvPr>
          <p:cNvSpPr txBox="1"/>
          <p:nvPr/>
        </p:nvSpPr>
        <p:spPr>
          <a:xfrm>
            <a:off x="5152104" y="59436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AU" sz="1100" b="0" dirty="0">
                <a:solidFill>
                  <a:srgbClr val="CFE3EA"/>
                </a:solidFill>
                <a:latin typeface="IBM Plex Mono"/>
              </a:rPr>
              <a:t>Presenter: Nitesh Bhatta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WHO IT'S BUILT FOR ·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Gyani Bohara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Three roles, three scopes of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3362858" cy="2743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54864" cy="27432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17627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176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●●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148840"/>
            <a:ext cx="221071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E6E8E"/>
                </a:solidFill>
                <a:latin typeface="IBM Plex Mono"/>
              </a:rPr>
              <a:t>SUBJECT-SCOPED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386584"/>
            <a:ext cx="221071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Lecturer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761488"/>
            <a:ext cx="285079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Dashboards, predictions and at-risk students for the subjects they actually teach.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4418" y="1920240"/>
            <a:ext cx="3362858" cy="2743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14418" y="1920240"/>
            <a:ext cx="54864" cy="274320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70450" y="2176272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70450" y="2176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●●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0530" y="2148840"/>
            <a:ext cx="221071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EA57F"/>
                </a:solidFill>
                <a:latin typeface="IBM Plex Mono"/>
              </a:rPr>
              <a:t>INSTITUTION-WIDE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0530" y="2386584"/>
            <a:ext cx="221071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Head of School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0450" y="2761488"/>
            <a:ext cx="285079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Academic analytics and shared admin across data ingestion, model health and AI configuration.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43036" y="1920240"/>
            <a:ext cx="3362858" cy="2743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43036" y="1920240"/>
            <a:ext cx="54864" cy="2743200"/>
          </a:xfrm>
          <a:prstGeom prst="rect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99068" y="2176272"/>
            <a:ext cx="457200" cy="457200"/>
          </a:xfrm>
          <a:prstGeom prst="ellipse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99068" y="2176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●●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9148" y="2148840"/>
            <a:ext cx="221071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1455C"/>
                </a:solidFill>
                <a:latin typeface="IBM Plex Mono"/>
              </a:rPr>
              <a:t>FULL 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9148" y="2386584"/>
            <a:ext cx="221071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Head of Technology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9068" y="2761488"/>
            <a:ext cx="285079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Everything above, plus the audit log, user management and the API console.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Foundations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§1.6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05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WHAT THE SYSTEM MUST DO · 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Gyani Bohara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Nine capabilities, from login to audit trail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381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4864" cy="14173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084832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084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057400"/>
            <a:ext cx="2271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70048"/>
            <a:ext cx="29117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Role-based access control at every endpoint.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3938" y="1828800"/>
            <a:ext cx="342381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3938" y="1828800"/>
            <a:ext cx="54864" cy="14173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39970" y="2084832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9970" y="2084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0050" y="2057400"/>
            <a:ext cx="2271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Data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9970" y="2670048"/>
            <a:ext cx="29117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Accepts institutional CSV extracts, validating column structure on the way 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2076" y="1828800"/>
            <a:ext cx="342381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82076" y="1828800"/>
            <a:ext cx="54864" cy="14173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38108" y="2084832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8108" y="2084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8188" y="2057400"/>
            <a:ext cx="2271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Descriptive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8108" y="2670048"/>
            <a:ext cx="29117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Institution-wide analytics, filterable by year, subject and lecturer.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364992"/>
            <a:ext cx="342381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" y="3364992"/>
            <a:ext cx="54864" cy="14173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1832" y="3621024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1832" y="36210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81912" y="3593592"/>
            <a:ext cx="2271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Predictive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4206240"/>
            <a:ext cx="29117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A pass-probability for a given student and subject, from data confirmed available at prediction time.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3938" y="3364992"/>
            <a:ext cx="342381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3938" y="3364992"/>
            <a:ext cx="54864" cy="14173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639970" y="3621024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39970" y="36210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80050" y="3593592"/>
            <a:ext cx="2271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Model governance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9970" y="4206240"/>
            <a:ext cx="29117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Every trained model is kept on record; nothing reaches production without human-authorised promotion.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2076" y="3364992"/>
            <a:ext cx="342381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82076" y="3364992"/>
            <a:ext cx="54864" cy="14173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338108" y="3621024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38108" y="36210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8188" y="3593592"/>
            <a:ext cx="2271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Intervention tracking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8108" y="4206240"/>
            <a:ext cx="29117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A record of action taken against a flagged student.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4901184"/>
            <a:ext cx="342381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85800" y="4901184"/>
            <a:ext cx="54864" cy="14173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41832" y="5157216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1832" y="51572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81912" y="5129784"/>
            <a:ext cx="2271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AI-assisted functionality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" y="5742432"/>
            <a:ext cx="29117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Gemini, Anthropic or OpenAI, switchable at runtime with no redeploy.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83938" y="4901184"/>
            <a:ext cx="342381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383938" y="4901184"/>
            <a:ext cx="54864" cy="14173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639970" y="5157216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639970" y="51572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80050" y="5129784"/>
            <a:ext cx="2271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Outgoing communication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39970" y="5742432"/>
            <a:ext cx="29117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One or more SMTP servers, credentials encrypted at rest.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82076" y="4901184"/>
            <a:ext cx="342381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082076" y="4901184"/>
            <a:ext cx="54864" cy="14173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338108" y="5157216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38108" y="51572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78188" y="5129784"/>
            <a:ext cx="2271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Auditability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38108" y="5742432"/>
            <a:ext cx="29117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A permanent trail of key administrative activity.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Foundations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§2.1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06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HOW IT MUST BEHAVE · NON-FUNCTIONAL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Gyani Bohara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Ten quality attributes, each with a stated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0848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084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0574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700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Dashboard loads within 3 seconds for a normal-sized extract.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432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7432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1832" y="29992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29992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29718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Model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35844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Fail-class precision/recall as the real criteria; accuracy is only a sanity check.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576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6576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41832" y="39136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" y="39136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38862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Reliability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4988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Fails gracefully on missing data — never a confident, wrong answer.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5720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" y="45720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1832" y="48280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1832" y="48280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81912" y="48006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54132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JWT-authenticated sessions and role-based access on every sensitive endpoint.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4864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54864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41832" y="57424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1832" y="57424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81912" y="57150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Privacy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" y="63276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Masked identifiers throughout — no claim of full anonymisation.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4448" y="18288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24448" y="18288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580480" y="20848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0480" y="2084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0560" y="20574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Auditability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0480" y="26700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Every major admin action recorded and traceable.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24448" y="27432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24448" y="27432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580480" y="29992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0480" y="29992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0560" y="29718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Usability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0480" y="35844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Usable by academic staff with no SQL or data-analysis background.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24448" y="36576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324448" y="36576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580480" y="39136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80480" y="39136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0560" y="38862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Maintainability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0480" y="44988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Modular, documented, with a regression suite run on every change.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24448" y="45720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324448" y="45720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580480" y="48280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580480" y="48280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0560" y="48006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Scalability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0480" y="54132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Modular architecture — extendable with no redesign.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24448" y="54864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324448" y="54864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6580480" y="57424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80480" y="57424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0560" y="57150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Portability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0480" y="63276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Deployable from source via Docker Compose, dev and prod alike.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Foundations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§2.2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07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UNDER THE HOOD ·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Griffins Leshan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Three layers, each replaceable on its 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3179978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54864" cy="23774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22199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Hexagon 10"/>
          <p:cNvSpPr/>
          <p:nvPr/>
        </p:nvSpPr>
        <p:spPr>
          <a:xfrm>
            <a:off x="1069848" y="2350008"/>
            <a:ext cx="201168" cy="201168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81912" y="2194560"/>
            <a:ext cx="202783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E6E8E"/>
                </a:solidFill>
                <a:latin typeface="IBM Plex Mono"/>
              </a:rPr>
              <a:t>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432304"/>
            <a:ext cx="202783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React 18 + Recharts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807208"/>
            <a:ext cx="266791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Role-scoped SPA; navigation guards for UX, never the security boundary.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20642" y="3017520"/>
            <a:ext cx="502920" cy="276606"/>
          </a:xfrm>
          <a:prstGeom prst="rightArrow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05858" y="1965960"/>
            <a:ext cx="3179978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05858" y="1965960"/>
            <a:ext cx="54864" cy="2377440"/>
          </a:xfrm>
          <a:prstGeom prst="rect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761890" y="2221992"/>
            <a:ext cx="457200" cy="457200"/>
          </a:xfrm>
          <a:prstGeom prst="ellipse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Gear 6 18"/>
          <p:cNvSpPr/>
          <p:nvPr/>
        </p:nvSpPr>
        <p:spPr>
          <a:xfrm>
            <a:off x="4889906" y="2350008"/>
            <a:ext cx="201168" cy="201168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01970" y="2194560"/>
            <a:ext cx="202783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1455C"/>
                </a:solidFill>
                <a:latin typeface="IBM Plex Mono"/>
              </a:rPr>
              <a:t>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1970" y="2432304"/>
            <a:ext cx="202783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FastAPI · Gunicorn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1890" y="2807208"/>
            <a:ext cx="266791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Auth, business logic, the ML pipeline, and every external-service call.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740700" y="3017520"/>
            <a:ext cx="502920" cy="276606"/>
          </a:xfrm>
          <a:prstGeom prst="rightArrow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25916" y="1965960"/>
            <a:ext cx="3179978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25916" y="1965960"/>
            <a:ext cx="54864" cy="237744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581948" y="2221992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an 26"/>
          <p:cNvSpPr/>
          <p:nvPr/>
        </p:nvSpPr>
        <p:spPr>
          <a:xfrm>
            <a:off x="8709964" y="2350008"/>
            <a:ext cx="201168" cy="201168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22028" y="2194560"/>
            <a:ext cx="202783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EA57F"/>
                </a:solidFill>
                <a:latin typeface="IBM Plex Mono"/>
              </a:rPr>
              <a:t>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2028" y="2432304"/>
            <a:ext cx="202783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PostgreSQL 16 + Pandas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81948" y="2807208"/>
            <a:ext cx="266791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Relational store for operations; academic data lives in-memory for speed.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7091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B95A1"/>
                </a:solidFill>
                <a:latin typeface="Manrope"/>
              </a:rPr>
              <a:t>Proven in practice: the AI provider layer went from one hardcoded integration to a runtime-configurable one — with zero changes to the layers on either side.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08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WHAT IT'S ACTUALLY BUILT WITH · §5.2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Griffins Leshan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One stack per layer, nothing exotic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393338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4864" cy="2148840"/>
          </a:xfrm>
          <a:prstGeom prst="rect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130551"/>
            <a:ext cx="457200" cy="457200"/>
          </a:xfrm>
          <a:prstGeom prst="ellipse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Gear 6 10"/>
          <p:cNvSpPr/>
          <p:nvPr/>
        </p:nvSpPr>
        <p:spPr>
          <a:xfrm>
            <a:off x="1069848" y="2258567"/>
            <a:ext cx="201168" cy="201168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81912" y="2103119"/>
            <a:ext cx="224119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1455C"/>
                </a:solidFill>
                <a:latin typeface="IBM Plex Mono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340863"/>
            <a:ext cx="22411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Python 3.12 · 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715767"/>
            <a:ext cx="2881274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Uvicorn for dev; Gunicorn + Uvicorn workers in production.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9178" y="1874519"/>
            <a:ext cx="3393338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99178" y="1874519"/>
            <a:ext cx="54864" cy="214884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55210" y="2130551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n 17"/>
          <p:cNvSpPr/>
          <p:nvPr/>
        </p:nvSpPr>
        <p:spPr>
          <a:xfrm>
            <a:off x="4783226" y="2258567"/>
            <a:ext cx="201168" cy="201168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95290" y="2103119"/>
            <a:ext cx="224119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EA57F"/>
                </a:solidFill>
                <a:latin typeface="IBM Plex Mono"/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5290" y="2340863"/>
            <a:ext cx="22411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PostgreSQL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5210" y="2715767"/>
            <a:ext cx="2881274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SQLAlchemy 2.0 with the async driver asyncpg end to end.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2556" y="1874519"/>
            <a:ext cx="3393338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12556" y="1874519"/>
            <a:ext cx="54864" cy="2148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68588" y="2130551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Lightning Bolt 24"/>
          <p:cNvSpPr/>
          <p:nvPr/>
        </p:nvSpPr>
        <p:spPr>
          <a:xfrm>
            <a:off x="8496604" y="2258567"/>
            <a:ext cx="201168" cy="20116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08668" y="2103119"/>
            <a:ext cx="224119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97706"/>
                </a:solidFill>
                <a:latin typeface="IBM Plex Mono"/>
              </a:rPr>
              <a:t>DATA &amp;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8668" y="2340863"/>
            <a:ext cx="22411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Pandas · Scikit-Learn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8588" y="2715767"/>
            <a:ext cx="2881274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XGBoost models, SMOTE for imbalance, SHAP for explanation, Joblib for serialisation.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206239"/>
            <a:ext cx="3393338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4206239"/>
            <a:ext cx="54864" cy="21488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41832" y="4462271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Hexagon 31"/>
          <p:cNvSpPr/>
          <p:nvPr/>
        </p:nvSpPr>
        <p:spPr>
          <a:xfrm>
            <a:off x="1069848" y="4590287"/>
            <a:ext cx="201168" cy="201168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81912" y="4434839"/>
            <a:ext cx="224119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E6E8E"/>
                </a:solidFill>
                <a:latin typeface="IBM Plex Mono"/>
              </a:rPr>
              <a:t>FRONTEND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81912" y="4672583"/>
            <a:ext cx="22411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React 18 · Router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" y="5047487"/>
            <a:ext cx="2881274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Recharts for data, Axios for API calls.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99178" y="4206239"/>
            <a:ext cx="3393338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99178" y="4206239"/>
            <a:ext cx="54864" cy="2148840"/>
          </a:xfrm>
          <a:prstGeom prst="rect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655210" y="4462271"/>
            <a:ext cx="457200" cy="457200"/>
          </a:xfrm>
          <a:prstGeom prst="ellipse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Cloud 38"/>
          <p:cNvSpPr/>
          <p:nvPr/>
        </p:nvSpPr>
        <p:spPr>
          <a:xfrm>
            <a:off x="4783226" y="4590287"/>
            <a:ext cx="201168" cy="201168"/>
          </a:xfrm>
          <a:prstGeom prst="clou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95290" y="4434839"/>
            <a:ext cx="224119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1455C"/>
                </a:solidFill>
                <a:latin typeface="IBM Plex Mono"/>
              </a:rPr>
              <a:t>INFRASTRUCTURE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95290" y="4672583"/>
            <a:ext cx="22411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Docker Compose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55210" y="5047487"/>
            <a:ext cx="2881274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Separate configurations for development and production.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§5.2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09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HOW THE BUILD WAS TRACKED · §5 IMPLEMENTATION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Griffins Leshan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A work breakdown structure, checked weekly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77440"/>
            <a:ext cx="1487381" cy="685800"/>
          </a:xfrm>
          <a:prstGeom prst="roundRect">
            <a:avLst>
              <a:gd name="adj" fmla="val 4500"/>
            </a:avLst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596896"/>
            <a:ext cx="151481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IBM Plex Mono"/>
              </a:rPr>
              <a:t>Definition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00613" y="2377440"/>
            <a:ext cx="1703783" cy="685800"/>
          </a:xfrm>
          <a:prstGeom prst="roundRect">
            <a:avLst>
              <a:gd name="adj" fmla="val 45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00613" y="2596896"/>
            <a:ext cx="1731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IBM Plex Mono"/>
              </a:rPr>
              <a:t>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828" y="2377440"/>
            <a:ext cx="1920185" cy="685800"/>
          </a:xfrm>
          <a:prstGeom prst="roundRect">
            <a:avLst>
              <a:gd name="adj" fmla="val 4500"/>
            </a:avLst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31828" y="2596896"/>
            <a:ext cx="194761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IBM Plex Mono"/>
              </a:rPr>
              <a:t>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79445" y="2377440"/>
            <a:ext cx="2569391" cy="685800"/>
          </a:xfrm>
          <a:prstGeom prst="roundRect">
            <a:avLst>
              <a:gd name="adj" fmla="val 45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79445" y="2596896"/>
            <a:ext cx="25968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IBM Plex Mono"/>
              </a:rPr>
              <a:t>Development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76268" y="2377440"/>
            <a:ext cx="1703783" cy="685800"/>
          </a:xfrm>
          <a:prstGeom prst="roundRect">
            <a:avLst>
              <a:gd name="adj" fmla="val 45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268" y="2596896"/>
            <a:ext cx="1731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IBM Plex Mono"/>
              </a:rPr>
              <a:t>Iteration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07483" y="2377440"/>
            <a:ext cx="1270979" cy="685800"/>
          </a:xfrm>
          <a:prstGeom prst="roundRect">
            <a:avLst>
              <a:gd name="adj" fmla="val 4500"/>
            </a:avLst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07483" y="2596896"/>
            <a:ext cx="12984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IBM Plex Mono"/>
              </a:rPr>
              <a:t>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5204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55F6B"/>
                </a:solidFill>
                <a:latin typeface="Manrope"/>
              </a:rPr>
              <a:t>The trimester was tracked against these six phases, with weekly snapshots cross-referenced against the project's own progress log — not a plan made once and forgotten.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MODELLING IT BEFORE BUILDING IT · 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Griffins Leshan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Manrope"/>
              </a:rPr>
              <a:t>Three roles, one set of classes, mapped before a line of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5204308" cy="4251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5204308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074" y="2066544"/>
            <a:ext cx="2309759" cy="3739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897880"/>
            <a:ext cx="50214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5A1"/>
                </a:solidFill>
                <a:latin typeface="IBM Plex Mono"/>
              </a:rPr>
              <a:t>Fig. 2 — Use Case Diagram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1588" y="1920240"/>
            <a:ext cx="5204308" cy="4251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1588" y="1920240"/>
            <a:ext cx="5204308" cy="54864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lass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028" y="2745410"/>
            <a:ext cx="5021428" cy="238216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93028" y="5897880"/>
            <a:ext cx="50214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5A1"/>
                </a:solidFill>
                <a:latin typeface="IBM Plex Mono"/>
              </a:rPr>
              <a:t>Fig. 3 — System Class Diagram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§4.1–4.2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WHAT'S ACTUALLY IN POSTGRES · DATABASE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Griffins Leshan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Manrope"/>
              </a:rPr>
              <a:t>Operations and governance are relational — academic data isn't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6858000" cy="4434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858000" cy="54864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276" y="1975104"/>
            <a:ext cx="4129047" cy="39227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989320"/>
            <a:ext cx="6675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5A1"/>
                </a:solidFill>
                <a:latin typeface="IBM Plex Mono"/>
              </a:rPr>
              <a:t>Fig. 5 — Database ERD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474720" cy="4434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8120" y="1828800"/>
            <a:ext cx="54864" cy="44348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74152" y="20848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n 14"/>
          <p:cNvSpPr/>
          <p:nvPr/>
        </p:nvSpPr>
        <p:spPr>
          <a:xfrm>
            <a:off x="8202168" y="2212848"/>
            <a:ext cx="201168" cy="201168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14232" y="2057400"/>
            <a:ext cx="23225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What lives 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2670048"/>
            <a:ext cx="2962656" cy="333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Users, predictions, interventions, audit logs, mail servers and AI provider configs live here.</a:t>
            </a:r>
          </a:p>
          <a:p>
            <a:pPr algn="l">
              <a:lnSpc>
                <a:spcPct val="125000"/>
              </a:lnSpc>
            </a:pPr>
            <a:endParaRPr sz="1100" b="0">
              <a:solidFill>
                <a:srgbClr val="555F6B"/>
              </a:solidFill>
              <a:latin typeface="Manrope"/>
            </a:endParaRP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Academic source records don't — they're processed through Pandas DataFrames, not maintained as empty relational tables.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§4.4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PREDICTIVE ANALYTICS 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Sangam Ghale Gurung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FFFFFF"/>
                </a:solidFill>
                <a:latin typeface="Manrope"/>
              </a:rPr>
              <a:t>Two models, because a term in progress isn't a finished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Manrope"/>
              </a:rPr>
              <a:t>Complete-record model — 65,903 finished enrolments, 124 subjects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10820095" cy="292608"/>
          </a:xfrm>
          <a:prstGeom prst="roundRect">
            <a:avLst>
              <a:gd name="adj" fmla="val 4500"/>
            </a:avLst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Manrope"/>
              </a:rPr>
              <a:t>Mid-term model — trained on truncated snapshots (illustrative)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46120"/>
            <a:ext cx="10820095" cy="29260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3246120"/>
            <a:ext cx="4544440" cy="292608"/>
          </a:xfrm>
          <a:prstGeom prst="roundRect">
            <a:avLst>
              <a:gd name="adj" fmla="val 45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55F6B"/>
                </a:solidFill>
                <a:latin typeface="Manrope"/>
              </a:rPr>
              <a:t>Feeding partial data to the complete-record model first hit 100% training accuracy — a textbook sign of leakage, not skill. Hence a second model, trained only on what a mid-term snapshot actually contains.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§5.5.1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9953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MODEL PERFORMANCE 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Sangam Ghale Gurung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7863"/>
            <a:ext cx="10820095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AU" sz="2400" b="0" dirty="0">
                <a:solidFill>
                  <a:srgbClr val="FFFFFF"/>
                </a:solidFill>
                <a:latin typeface="Manrope"/>
              </a:rPr>
              <a:t>EDAPTv2 Machine Learning Pipeline</a:t>
            </a:r>
            <a:endParaRPr sz="2400" b="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§7.4.1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14 / 26</a:t>
            </a:r>
          </a:p>
        </p:txBody>
      </p:sp>
      <p:pic>
        <p:nvPicPr>
          <p:cNvPr id="32" name="Graphic 3">
            <a:extLst>
              <a:ext uri="{FF2B5EF4-FFF2-40B4-BE49-F238E27FC236}">
                <a16:creationId xmlns:a16="http://schemas.microsoft.com/office/drawing/2014/main" id="{4FBB2F42-183F-48B1-7C91-914B31411A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901" b="-294"/>
          <a:stretch>
            <a:fillRect/>
          </a:stretch>
        </p:blipFill>
        <p:spPr>
          <a:xfrm>
            <a:off x="3716792" y="613237"/>
            <a:ext cx="4453615" cy="594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D4872-B07B-886B-06CB-EF82D1E17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0D54A0-2EF6-F65E-83A6-78B8721AD41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865FCB-6303-416C-F522-868C54B44ADA}"/>
              </a:ext>
            </a:extLst>
          </p:cNvPr>
          <p:cNvSpPr/>
          <p:nvPr/>
        </p:nvSpPr>
        <p:spPr>
          <a:xfrm>
            <a:off x="0" y="0"/>
            <a:ext cx="12191695" cy="719953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37825F-B92E-1087-C49C-FA91A2967A02}"/>
              </a:ext>
            </a:extLst>
          </p:cNvPr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MODEL PERFORMANCE ·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1EB98B-BC8C-F4C0-681B-68510C88441C}"/>
              </a:ext>
            </a:extLst>
          </p:cNvPr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Sangam Ghale Gurung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3B91F-4C3D-01C6-0528-3DE2C72F746C}"/>
              </a:ext>
            </a:extLst>
          </p:cNvPr>
          <p:cNvSpPr txBox="1"/>
          <p:nvPr/>
        </p:nvSpPr>
        <p:spPr>
          <a:xfrm>
            <a:off x="685800" y="347863"/>
            <a:ext cx="10820095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AU" sz="2400" b="0" dirty="0">
                <a:solidFill>
                  <a:srgbClr val="FFFFFF"/>
                </a:solidFill>
                <a:latin typeface="Manrope"/>
              </a:rPr>
              <a:t>EDAPTv2 </a:t>
            </a:r>
            <a:r>
              <a:rPr lang="en-AU" sz="2400" dirty="0">
                <a:solidFill>
                  <a:srgbClr val="FFFFFF"/>
                </a:solidFill>
                <a:latin typeface="Manrope"/>
              </a:rPr>
              <a:t>Prediction Sequence Diagram</a:t>
            </a:r>
            <a:endParaRPr sz="2400" b="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2904EBEC-4308-043A-CDFD-E76FE08B572E}"/>
              </a:ext>
            </a:extLst>
          </p:cNvPr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1720B82-78E1-7F7C-80CF-324A4AA2F99F}"/>
              </a:ext>
            </a:extLst>
          </p:cNvPr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84D187-0971-0832-4A03-74739C12E7D5}"/>
              </a:ext>
            </a:extLst>
          </p:cNvPr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7A19A0-4C4A-0D21-FD6A-450C419C16CA}"/>
              </a:ext>
            </a:extLst>
          </p:cNvPr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§7.4.1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B03BD5-C93B-4B98-03AE-1A7035C7ECC4}"/>
              </a:ext>
            </a:extLst>
          </p:cNvPr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14 / 26</a:t>
            </a:r>
          </a:p>
        </p:txBody>
      </p:sp>
      <p:pic>
        <p:nvPicPr>
          <p:cNvPr id="4" name="Graphic 7">
            <a:extLst>
              <a:ext uri="{FF2B5EF4-FFF2-40B4-BE49-F238E27FC236}">
                <a16:creationId xmlns:a16="http://schemas.microsoft.com/office/drawing/2014/main" id="{DA168DCB-9CF8-A464-EB1C-2AF0D5C0FB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3645" y="538217"/>
            <a:ext cx="4884403" cy="594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864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C83F1-8EF9-6BD3-65EC-7D33520E9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2DF478-65DD-BAA6-5B12-85880794852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8545B4-783D-D465-BB7D-E5B57A7BCF0C}"/>
              </a:ext>
            </a:extLst>
          </p:cNvPr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13D8AD-12E5-1E24-7CE2-044111D41567}"/>
              </a:ext>
            </a:extLst>
          </p:cNvPr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6F789-19A4-FDCD-4BAC-A0E4B546408D}"/>
              </a:ext>
            </a:extLst>
          </p:cNvPr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MODEL PERFORMANCE · §7.4.1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8C6262-9356-620C-2F4A-8652DF1024EE}"/>
              </a:ext>
            </a:extLst>
          </p:cNvPr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Sangam Ghale Gurung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3CC1C8-2118-EB61-E4E2-D1DA576E0A54}"/>
              </a:ext>
            </a:extLst>
          </p:cNvPr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FFFFFF"/>
                </a:solidFill>
                <a:latin typeface="Manrope"/>
              </a:rPr>
              <a:t>95.40% accuracy isn't the number that matters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5E818D-2D2D-C162-FF54-B606A474933A}"/>
              </a:ext>
            </a:extLst>
          </p:cNvPr>
          <p:cNvSpPr txBox="1"/>
          <p:nvPr/>
        </p:nvSpPr>
        <p:spPr>
          <a:xfrm>
            <a:off x="685800" y="1874519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555F6B"/>
                </a:solidFill>
                <a:latin typeface="Manrope"/>
              </a:rPr>
              <a:t>Passing students outnumber failing ones — accuracy alone would flatter a model that misses the exact students it exists to find. We report the fail-class metrics instead.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CEE3AE-2A28-B28F-199E-4E6A72FCEBFA}"/>
              </a:ext>
            </a:extLst>
          </p:cNvPr>
          <p:cNvSpPr txBox="1"/>
          <p:nvPr/>
        </p:nvSpPr>
        <p:spPr>
          <a:xfrm>
            <a:off x="685800" y="277063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55F6B"/>
                </a:solidFill>
                <a:latin typeface="Manrope"/>
              </a:rPr>
              <a:t>Precision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034D752-673C-AEF0-4DCD-A597F7BB45FC}"/>
              </a:ext>
            </a:extLst>
          </p:cNvPr>
          <p:cNvSpPr/>
          <p:nvPr/>
        </p:nvSpPr>
        <p:spPr>
          <a:xfrm>
            <a:off x="2926080" y="2788920"/>
            <a:ext cx="7619695" cy="10972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E154E4E-A8E9-55A2-B636-7035DDEB80B6}"/>
              </a:ext>
            </a:extLst>
          </p:cNvPr>
          <p:cNvSpPr/>
          <p:nvPr/>
        </p:nvSpPr>
        <p:spPr>
          <a:xfrm>
            <a:off x="2926080" y="2788920"/>
            <a:ext cx="6042418" cy="109728"/>
          </a:xfrm>
          <a:prstGeom prst="roundRect">
            <a:avLst>
              <a:gd name="adj" fmla="val 45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AC4DFD-B603-7698-9442-0E4E4904B3A6}"/>
              </a:ext>
            </a:extLst>
          </p:cNvPr>
          <p:cNvSpPr txBox="1"/>
          <p:nvPr/>
        </p:nvSpPr>
        <p:spPr>
          <a:xfrm>
            <a:off x="10682935" y="273405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A1A1A"/>
                </a:solidFill>
                <a:latin typeface="IBM Plex Mono"/>
              </a:rPr>
              <a:t>.7931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C6FEA2-C7D5-7E96-EED9-89AFFD64D9AB}"/>
              </a:ext>
            </a:extLst>
          </p:cNvPr>
          <p:cNvSpPr txBox="1"/>
          <p:nvPr/>
        </p:nvSpPr>
        <p:spPr>
          <a:xfrm>
            <a:off x="685800" y="333756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55F6B"/>
                </a:solidFill>
                <a:latin typeface="Manrope"/>
              </a:rPr>
              <a:t>Recall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4CA170-B5EE-CEAF-C0F3-70C61C5508BA}"/>
              </a:ext>
            </a:extLst>
          </p:cNvPr>
          <p:cNvSpPr/>
          <p:nvPr/>
        </p:nvSpPr>
        <p:spPr>
          <a:xfrm>
            <a:off x="2926080" y="3355848"/>
            <a:ext cx="7619695" cy="10972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7049799-7263-2BC0-9982-660566B1DEA4}"/>
              </a:ext>
            </a:extLst>
          </p:cNvPr>
          <p:cNvSpPr/>
          <p:nvPr/>
        </p:nvSpPr>
        <p:spPr>
          <a:xfrm>
            <a:off x="2926080" y="3355848"/>
            <a:ext cx="5950982" cy="109728"/>
          </a:xfrm>
          <a:prstGeom prst="roundRect">
            <a:avLst>
              <a:gd name="adj" fmla="val 45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FFF2EC-C73D-5EE0-B25B-DA060842CCFD}"/>
              </a:ext>
            </a:extLst>
          </p:cNvPr>
          <p:cNvSpPr txBox="1"/>
          <p:nvPr/>
        </p:nvSpPr>
        <p:spPr>
          <a:xfrm>
            <a:off x="10682935" y="330098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A1A1A"/>
                </a:solidFill>
                <a:latin typeface="IBM Plex Mono"/>
              </a:rPr>
              <a:t>.7809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31228B-DA6B-2C5D-7511-B8D569E21D70}"/>
              </a:ext>
            </a:extLst>
          </p:cNvPr>
          <p:cNvSpPr txBox="1"/>
          <p:nvPr/>
        </p:nvSpPr>
        <p:spPr>
          <a:xfrm>
            <a:off x="685800" y="390448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55F6B"/>
                </a:solidFill>
                <a:latin typeface="Manrope"/>
              </a:rPr>
              <a:t>F1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20F35F0-EC0A-26AD-168A-D2D52400BDFA}"/>
              </a:ext>
            </a:extLst>
          </p:cNvPr>
          <p:cNvSpPr/>
          <p:nvPr/>
        </p:nvSpPr>
        <p:spPr>
          <a:xfrm>
            <a:off x="2926080" y="3922776"/>
            <a:ext cx="7619695" cy="10972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B7E9E1E-34D2-CE48-AFC9-3EE8AF08A496}"/>
              </a:ext>
            </a:extLst>
          </p:cNvPr>
          <p:cNvSpPr/>
          <p:nvPr/>
        </p:nvSpPr>
        <p:spPr>
          <a:xfrm>
            <a:off x="2926080" y="3922776"/>
            <a:ext cx="5996700" cy="109728"/>
          </a:xfrm>
          <a:prstGeom prst="roundRect">
            <a:avLst>
              <a:gd name="adj" fmla="val 45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D7BBFF-EB57-8859-BC8A-CDD8168D5765}"/>
              </a:ext>
            </a:extLst>
          </p:cNvPr>
          <p:cNvSpPr txBox="1"/>
          <p:nvPr/>
        </p:nvSpPr>
        <p:spPr>
          <a:xfrm>
            <a:off x="10682935" y="386791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A1A1A"/>
                </a:solidFill>
                <a:latin typeface="IBM Plex Mono"/>
              </a:rPr>
              <a:t>.7869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7EC266-6CF8-D4BA-CFFD-5933F329BE6D}"/>
              </a:ext>
            </a:extLst>
          </p:cNvPr>
          <p:cNvSpPr txBox="1"/>
          <p:nvPr/>
        </p:nvSpPr>
        <p:spPr>
          <a:xfrm>
            <a:off x="685800" y="447141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55F6B"/>
                </a:solidFill>
                <a:latin typeface="Manrope"/>
              </a:rPr>
              <a:t>PR-AUC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D7B244C-43EA-ADB0-75B6-2153F8605D6E}"/>
              </a:ext>
            </a:extLst>
          </p:cNvPr>
          <p:cNvSpPr/>
          <p:nvPr/>
        </p:nvSpPr>
        <p:spPr>
          <a:xfrm>
            <a:off x="2926080" y="4489704"/>
            <a:ext cx="7619695" cy="10972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44CDEBD-CF06-6FB7-E4D6-F3F508A9B077}"/>
              </a:ext>
            </a:extLst>
          </p:cNvPr>
          <p:cNvSpPr/>
          <p:nvPr/>
        </p:nvSpPr>
        <p:spPr>
          <a:xfrm>
            <a:off x="2926080" y="4489704"/>
            <a:ext cx="6712951" cy="109728"/>
          </a:xfrm>
          <a:prstGeom prst="roundRect">
            <a:avLst>
              <a:gd name="adj" fmla="val 45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960FE3-9233-11A6-E305-53ECF9121082}"/>
              </a:ext>
            </a:extLst>
          </p:cNvPr>
          <p:cNvSpPr txBox="1"/>
          <p:nvPr/>
        </p:nvSpPr>
        <p:spPr>
          <a:xfrm>
            <a:off x="10682935" y="443484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A1A1A"/>
                </a:solidFill>
                <a:latin typeface="IBM Plex Mono"/>
              </a:rPr>
              <a:t>.8808</a:t>
            </a:r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59B24706-A0E2-465B-7DA9-5B992288D720}"/>
              </a:ext>
            </a:extLst>
          </p:cNvPr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66927AB-F70B-57D1-3BC6-4B9D4ADFF3AE}"/>
              </a:ext>
            </a:extLst>
          </p:cNvPr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084F2B-F35F-EC92-8BF0-76926D94F5B6}"/>
              </a:ext>
            </a:extLst>
          </p:cNvPr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2CCBD5-D402-F028-09E9-59361ABA3E34}"/>
              </a:ext>
            </a:extLst>
          </p:cNvPr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§7.4.1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2AB444-AED8-0617-4993-5CF7875A402F}"/>
              </a:ext>
            </a:extLst>
          </p:cNvPr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14 / 26</a:t>
            </a:r>
          </a:p>
        </p:txBody>
      </p:sp>
    </p:spTree>
    <p:extLst>
      <p:ext uri="{BB962C8B-B14F-4D97-AF65-F5344CB8AC3E}">
        <p14:creationId xmlns:p14="http://schemas.microsoft.com/office/powerpoint/2010/main" val="3924921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TALKING TO THE OUTSIDE WORLD · §5.8–5.9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Nitesh Bhatta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Integrations &amp; the API surface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3362858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54864" cy="35661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221992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ghtning Bolt 10"/>
          <p:cNvSpPr/>
          <p:nvPr/>
        </p:nvSpPr>
        <p:spPr>
          <a:xfrm>
            <a:off x="1069848" y="2350008"/>
            <a:ext cx="201168" cy="20116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81912" y="2194560"/>
            <a:ext cx="221071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97706"/>
                </a:solidFill>
                <a:latin typeface="IBM Plex Mono"/>
              </a:rPr>
              <a:t>AI PROVIDERS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432304"/>
            <a:ext cx="221071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Gemini, Anthropic, OpenAI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807208"/>
            <a:ext cx="2850794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Configured at runtime through one dispatch function — no redeploy needed.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4418" y="1965960"/>
            <a:ext cx="3362858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14418" y="1965960"/>
            <a:ext cx="54864" cy="35661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70450" y="222199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70450" y="22219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0530" y="2194560"/>
            <a:ext cx="221071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E6E8E"/>
                </a:solidFill>
                <a:latin typeface="IBM Plex Mono"/>
              </a:rPr>
              <a:t>OUTGOING 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0530" y="2432304"/>
            <a:ext cx="221071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SMTP + templated 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0450" y="2807208"/>
            <a:ext cx="2850794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Credentials encrypted at rest. Every send logged as sent or failed, never falsely delivered.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43036" y="1965960"/>
            <a:ext cx="3362858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43036" y="1965960"/>
            <a:ext cx="54864" cy="3566160"/>
          </a:xfrm>
          <a:prstGeom prst="rect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99068" y="2221992"/>
            <a:ext cx="457200" cy="457200"/>
          </a:xfrm>
          <a:prstGeom prst="ellipse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Gear 6 24"/>
          <p:cNvSpPr/>
          <p:nvPr/>
        </p:nvSpPr>
        <p:spPr>
          <a:xfrm>
            <a:off x="8527084" y="2350008"/>
            <a:ext cx="201168" cy="201168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39148" y="2194560"/>
            <a:ext cx="221071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1455C"/>
                </a:solidFill>
                <a:latin typeface="IBM Plex Mono"/>
              </a:rPr>
              <a:t>REST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9148" y="2432304"/>
            <a:ext cx="221071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FastAPI, self-documenting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9068" y="2807208"/>
            <a:ext cx="2850794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Every capability is a versioned endpoint with auto-generated OpenAPI docs.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§5.8–5.9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15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2DE76-6C91-AF9B-E8B0-D95F8E69A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E30E9E-5480-C323-D414-3A4167E81A9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54748B-EDC2-50A5-2AE0-72D524F58AAC}"/>
              </a:ext>
            </a:extLst>
          </p:cNvPr>
          <p:cNvSpPr/>
          <p:nvPr/>
        </p:nvSpPr>
        <p:spPr>
          <a:xfrm>
            <a:off x="0" y="0"/>
            <a:ext cx="12191695" cy="719953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488A95-57CC-D04D-398C-E042E83576F6}"/>
              </a:ext>
            </a:extLst>
          </p:cNvPr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MODEL PERFORMANCE ·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234E7-397E-BD01-4509-B02295C39D12}"/>
              </a:ext>
            </a:extLst>
          </p:cNvPr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Nitesh Bhatta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968FE0-3CBD-C642-CDFE-C5F7D0B534D5}"/>
              </a:ext>
            </a:extLst>
          </p:cNvPr>
          <p:cNvSpPr txBox="1"/>
          <p:nvPr/>
        </p:nvSpPr>
        <p:spPr>
          <a:xfrm>
            <a:off x="685800" y="347863"/>
            <a:ext cx="10820095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AU" sz="2400" b="0" dirty="0">
                <a:solidFill>
                  <a:srgbClr val="FFFFFF"/>
                </a:solidFill>
                <a:latin typeface="Manrope"/>
              </a:rPr>
              <a:t>EDAPTv2 </a:t>
            </a:r>
            <a:r>
              <a:rPr lang="en-AU" sz="2400" dirty="0">
                <a:solidFill>
                  <a:srgbClr val="FFFFFF"/>
                </a:solidFill>
                <a:latin typeface="Manrope"/>
              </a:rPr>
              <a:t>AI Assistant Sequence Diagram</a:t>
            </a:r>
            <a:endParaRPr sz="2400" b="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DD5F34C6-5E78-20C5-78D5-C3CE4B298A4F}"/>
              </a:ext>
            </a:extLst>
          </p:cNvPr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96498-950C-64EF-1905-EEC0D88A5FA2}"/>
              </a:ext>
            </a:extLst>
          </p:cNvPr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276F67-1EFA-8563-87A3-BCC802E72A5C}"/>
              </a:ext>
            </a:extLst>
          </p:cNvPr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516E89-3A86-BC4D-A717-BFC15117345E}"/>
              </a:ext>
            </a:extLst>
          </p:cNvPr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§7.4.1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D88E69-B0D8-1B36-7B2C-F9DD05E3BEB8}"/>
              </a:ext>
            </a:extLst>
          </p:cNvPr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14 / 26</a:t>
            </a:r>
          </a:p>
        </p:txBody>
      </p:sp>
      <p:pic>
        <p:nvPicPr>
          <p:cNvPr id="4" name="Graphic 4">
            <a:extLst>
              <a:ext uri="{FF2B5EF4-FFF2-40B4-BE49-F238E27FC236}">
                <a16:creationId xmlns:a16="http://schemas.microsoft.com/office/drawing/2014/main" id="{9A56DA6A-B923-2C71-1DB4-5B0B3F82C8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44568" y="731938"/>
            <a:ext cx="7102557" cy="570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65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C240F-47E9-FB1A-6804-F3211C761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231349-BD8A-70C2-55CE-7FE70905995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E98606-D765-B40C-511F-7C9BE10F8C7C}"/>
              </a:ext>
            </a:extLst>
          </p:cNvPr>
          <p:cNvSpPr/>
          <p:nvPr/>
        </p:nvSpPr>
        <p:spPr>
          <a:xfrm>
            <a:off x="0" y="0"/>
            <a:ext cx="12191695" cy="719953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7E1D48-7BC3-C7AE-A39E-1AD631374250}"/>
              </a:ext>
            </a:extLst>
          </p:cNvPr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MODEL PERFORMANCE ·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FE6A6-1EAC-44AF-AF3D-AFA149EF5881}"/>
              </a:ext>
            </a:extLst>
          </p:cNvPr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Nitesh Bhatta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DCE15-ADEB-BABB-16E7-68D00F624BA1}"/>
              </a:ext>
            </a:extLst>
          </p:cNvPr>
          <p:cNvSpPr txBox="1"/>
          <p:nvPr/>
        </p:nvSpPr>
        <p:spPr>
          <a:xfrm>
            <a:off x="685800" y="347863"/>
            <a:ext cx="10820095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AU" sz="2400" b="0" dirty="0">
                <a:solidFill>
                  <a:srgbClr val="FFFFFF"/>
                </a:solidFill>
                <a:latin typeface="Manrope"/>
              </a:rPr>
              <a:t>EDAPTv2 Outgoing Email Work</a:t>
            </a:r>
            <a:r>
              <a:rPr lang="en-AU" sz="2400" dirty="0">
                <a:solidFill>
                  <a:srgbClr val="FFFFFF"/>
                </a:solidFill>
                <a:latin typeface="Manrope"/>
              </a:rPr>
              <a:t>flow</a:t>
            </a:r>
            <a:endParaRPr sz="2400" b="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6B7AEA85-2244-4506-C33E-1E08EDBCBA38}"/>
              </a:ext>
            </a:extLst>
          </p:cNvPr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9CB080B-D290-A82D-749E-A8464B8BCA3E}"/>
              </a:ext>
            </a:extLst>
          </p:cNvPr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CF2331-C7D9-2249-9601-FD44E1DFF376}"/>
              </a:ext>
            </a:extLst>
          </p:cNvPr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E28DD6-5F55-4632-90F3-8247A3B5AB55}"/>
              </a:ext>
            </a:extLst>
          </p:cNvPr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§7.4.1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6B50D9-9F05-64C2-9FC8-0E2A905F14C2}"/>
              </a:ext>
            </a:extLst>
          </p:cNvPr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14 / 26</a:t>
            </a:r>
          </a:p>
        </p:txBody>
      </p:sp>
      <p:pic>
        <p:nvPicPr>
          <p:cNvPr id="8" name="Graphic 5">
            <a:extLst>
              <a:ext uri="{FF2B5EF4-FFF2-40B4-BE49-F238E27FC236}">
                <a16:creationId xmlns:a16="http://schemas.microsoft.com/office/drawing/2014/main" id="{E218A646-0190-B846-4747-DC28A67BE0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4691" y="667377"/>
            <a:ext cx="3949372" cy="619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177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0CDF6-A76A-4742-7ACF-274EFDEBE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BC5449-6F64-182D-E54B-B718882B26A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FC9C22-52E5-F70F-33EF-6C3BD77EE98F}"/>
              </a:ext>
            </a:extLst>
          </p:cNvPr>
          <p:cNvSpPr/>
          <p:nvPr/>
        </p:nvSpPr>
        <p:spPr>
          <a:xfrm>
            <a:off x="0" y="0"/>
            <a:ext cx="12191695" cy="719953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0AC54-9BAC-2A13-8CC3-E0CD486646DD}"/>
              </a:ext>
            </a:extLst>
          </p:cNvPr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MODEL PERFORMANCE ·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803070-FD27-2494-4689-7B98A128AF39}"/>
              </a:ext>
            </a:extLst>
          </p:cNvPr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Nitesh Bhatta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61AC62-CD83-D691-C999-7C9F292513B5}"/>
              </a:ext>
            </a:extLst>
          </p:cNvPr>
          <p:cNvSpPr txBox="1"/>
          <p:nvPr/>
        </p:nvSpPr>
        <p:spPr>
          <a:xfrm>
            <a:off x="685800" y="347863"/>
            <a:ext cx="10820095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AU" sz="2400" b="0" dirty="0">
                <a:solidFill>
                  <a:srgbClr val="FFFFFF"/>
                </a:solidFill>
                <a:latin typeface="Manrope"/>
              </a:rPr>
              <a:t>EDAPTv2 Deployment Diagram</a:t>
            </a:r>
            <a:endParaRPr sz="2400" b="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9E9B60CA-D77B-7C19-7CCE-FBD82659A942}"/>
              </a:ext>
            </a:extLst>
          </p:cNvPr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9EEA1-EE7C-D1F9-3B6E-5D54DD55C017}"/>
              </a:ext>
            </a:extLst>
          </p:cNvPr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9A3613-0A00-9D5D-14FF-933BC134BE7C}"/>
              </a:ext>
            </a:extLst>
          </p:cNvPr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244C59-AF2C-EE42-5105-5ABAB415CBF0}"/>
              </a:ext>
            </a:extLst>
          </p:cNvPr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§7.4.1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5A7510-2639-6F41-2FB8-7202B124693F}"/>
              </a:ext>
            </a:extLst>
          </p:cNvPr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14 / 26</a:t>
            </a:r>
          </a:p>
        </p:txBody>
      </p:sp>
      <p:pic>
        <p:nvPicPr>
          <p:cNvPr id="4" name="Graphic 6">
            <a:extLst>
              <a:ext uri="{FF2B5EF4-FFF2-40B4-BE49-F238E27FC236}">
                <a16:creationId xmlns:a16="http://schemas.microsoft.com/office/drawing/2014/main" id="{301529EF-67CF-408B-2894-AB47AAA6B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7244" y="1043146"/>
            <a:ext cx="8417205" cy="477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15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WHAT IT LOOKS LIKE · §4.5.3 T2 REFINEMENTS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</a:t>
            </a:r>
            <a:r>
              <a:rPr lang="en-AU" sz="1100" dirty="0" err="1">
                <a:solidFill>
                  <a:srgbClr val="CFE3EA"/>
                </a:solidFill>
                <a:latin typeface="IBM Plex Mono"/>
              </a:rPr>
              <a:t>Koshish</a:t>
            </a:r>
            <a:r>
              <a:rPr lang="en-AU" sz="1100" dirty="0">
                <a:solidFill>
                  <a:srgbClr val="CFE3EA"/>
                </a:solidFill>
                <a:latin typeface="IBM Plex Mono"/>
              </a:rPr>
              <a:t> Shrestha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AU" sz="2400" b="0" dirty="0">
                <a:solidFill>
                  <a:srgbClr val="FFFFFF"/>
                </a:solidFill>
                <a:latin typeface="Manrope"/>
              </a:rPr>
              <a:t>Project UI/UX - Wireframe</a:t>
            </a:r>
            <a:endParaRPr sz="2400" b="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Explainability &amp;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§4.5.3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17 / 26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DF98F15-50CD-7E29-4EFD-18C5DED53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9888"/>
            <a:ext cx="12191999" cy="44940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5BE9A-FCD4-E4A4-360B-CAC2C7ADF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5183F6-8B16-0021-6038-A234D2C08B7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E514AC-AA51-21CD-DABD-2366B6E83C20}"/>
              </a:ext>
            </a:extLst>
          </p:cNvPr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1D78EC-68B7-120A-989F-589D24F060CC}"/>
              </a:ext>
            </a:extLst>
          </p:cNvPr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0B0C0C-B852-4D80-D0E2-34C04AC842C0}"/>
              </a:ext>
            </a:extLst>
          </p:cNvPr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WHAT IT LOOKS LIKE · §4.5.3 T2 REFINEMENTS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BEB9EB-905D-EE75-289E-DD92AB695391}"/>
              </a:ext>
            </a:extLst>
          </p:cNvPr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</a:t>
            </a:r>
            <a:r>
              <a:rPr lang="en-AU" sz="1100" dirty="0" err="1">
                <a:solidFill>
                  <a:srgbClr val="CFE3EA"/>
                </a:solidFill>
                <a:latin typeface="IBM Plex Mono"/>
              </a:rPr>
              <a:t>Koshish</a:t>
            </a:r>
            <a:r>
              <a:rPr lang="en-AU" sz="1100" dirty="0">
                <a:solidFill>
                  <a:srgbClr val="CFE3EA"/>
                </a:solidFill>
                <a:latin typeface="IBM Plex Mono"/>
              </a:rPr>
              <a:t> Shrestha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330143-1617-4BA9-13DE-BA348D26574F}"/>
              </a:ext>
            </a:extLst>
          </p:cNvPr>
          <p:cNvSpPr txBox="1"/>
          <p:nvPr/>
        </p:nvSpPr>
        <p:spPr>
          <a:xfrm>
            <a:off x="685800" y="603504"/>
            <a:ext cx="10820095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AU" sz="2400" b="0" dirty="0">
                <a:solidFill>
                  <a:srgbClr val="FFFFFF"/>
                </a:solidFill>
                <a:latin typeface="Manrope"/>
              </a:rPr>
              <a:t>Project UI/UX - Wireframe</a:t>
            </a:r>
            <a:endParaRPr sz="2400" b="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32" name="Connector 31">
            <a:extLst>
              <a:ext uri="{FF2B5EF4-FFF2-40B4-BE49-F238E27FC236}">
                <a16:creationId xmlns:a16="http://schemas.microsoft.com/office/drawing/2014/main" id="{1CF796A6-5E8A-38AA-62F0-CED40F96B716}"/>
              </a:ext>
            </a:extLst>
          </p:cNvPr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663DDF29-8A99-E2B7-7A88-542A87D063A7}"/>
              </a:ext>
            </a:extLst>
          </p:cNvPr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CAFB37-E4CC-C4AB-F2FC-78A277E15FB4}"/>
              </a:ext>
            </a:extLst>
          </p:cNvPr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Explainability &amp; Evaluation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37FC73-E766-66A6-8E2D-052E232AC84D}"/>
              </a:ext>
            </a:extLst>
          </p:cNvPr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§4.5.3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E5D4D4-B232-409C-F531-EF28E7D4CC8C}"/>
              </a:ext>
            </a:extLst>
          </p:cNvPr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17 / 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95B242-D94C-2383-8CE7-D6C2233DD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048" y="1405299"/>
            <a:ext cx="7821598" cy="503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49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218F6-D378-B014-E83D-2714DC8C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5808F4-4408-4559-751E-998C8A385EA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C99211-A844-9E20-6DE8-01B090C92632}"/>
              </a:ext>
            </a:extLst>
          </p:cNvPr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FD6819-E2C9-BB4F-138F-ED9DE5B26235}"/>
              </a:ext>
            </a:extLst>
          </p:cNvPr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C4FBD1-8B02-F9A2-0485-F3AB4C63C222}"/>
              </a:ext>
            </a:extLst>
          </p:cNvPr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WHAT IT LOOKS LIKE · §4.5.3 T2 REFINEMENTS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C481F9-6B4D-53EB-7E63-2355DF604F13}"/>
              </a:ext>
            </a:extLst>
          </p:cNvPr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</a:t>
            </a:r>
            <a:r>
              <a:rPr lang="en-AU" sz="1100" dirty="0" err="1">
                <a:solidFill>
                  <a:srgbClr val="CFE3EA"/>
                </a:solidFill>
                <a:latin typeface="IBM Plex Mono"/>
              </a:rPr>
              <a:t>Koshish</a:t>
            </a:r>
            <a:r>
              <a:rPr lang="en-AU" sz="1100" dirty="0">
                <a:solidFill>
                  <a:srgbClr val="CFE3EA"/>
                </a:solidFill>
                <a:latin typeface="IBM Plex Mono"/>
              </a:rPr>
              <a:t> Shrestha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B13F4-D6D1-8E75-1C32-D840DF351AB6}"/>
              </a:ext>
            </a:extLst>
          </p:cNvPr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FFFFFF"/>
                </a:solidFill>
                <a:latin typeface="Manrope"/>
              </a:rPr>
              <a:t>Refined against client feedback, not redesigned from scratch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47310F8-650F-F1EE-4C24-FA91528F6A02}"/>
              </a:ext>
            </a:extLst>
          </p:cNvPr>
          <p:cNvSpPr/>
          <p:nvPr/>
        </p:nvSpPr>
        <p:spPr>
          <a:xfrm>
            <a:off x="685800" y="1874519"/>
            <a:ext cx="3423818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5E50A6-D702-8567-3B0E-29CF867BD4C7}"/>
              </a:ext>
            </a:extLst>
          </p:cNvPr>
          <p:cNvSpPr/>
          <p:nvPr/>
        </p:nvSpPr>
        <p:spPr>
          <a:xfrm>
            <a:off x="685800" y="1874519"/>
            <a:ext cx="3423818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ashboard.png">
            <a:extLst>
              <a:ext uri="{FF2B5EF4-FFF2-40B4-BE49-F238E27FC236}">
                <a16:creationId xmlns:a16="http://schemas.microsoft.com/office/drawing/2014/main" id="{5B40DED0-4B2C-53B2-4F85-6AC2F6DDA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201" y="2020823"/>
            <a:ext cx="3009016" cy="13624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1B8971-3494-15BD-414D-23136C4D3B1C}"/>
              </a:ext>
            </a:extLst>
          </p:cNvPr>
          <p:cNvSpPr txBox="1"/>
          <p:nvPr/>
        </p:nvSpPr>
        <p:spPr>
          <a:xfrm>
            <a:off x="777240" y="3474718"/>
            <a:ext cx="324093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5A1"/>
                </a:solidFill>
                <a:latin typeface="IBM Plex Mono"/>
              </a:rPr>
              <a:t>Institution-wide dashboard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2311A2B-7EA2-6D1C-89E4-A5FFFD57BF40}"/>
              </a:ext>
            </a:extLst>
          </p:cNvPr>
          <p:cNvSpPr/>
          <p:nvPr/>
        </p:nvSpPr>
        <p:spPr>
          <a:xfrm>
            <a:off x="4383938" y="1874519"/>
            <a:ext cx="3423818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A38FC5-7FF7-9046-B4F9-4269BA83DADC}"/>
              </a:ext>
            </a:extLst>
          </p:cNvPr>
          <p:cNvSpPr/>
          <p:nvPr/>
        </p:nvSpPr>
        <p:spPr>
          <a:xfrm>
            <a:off x="4383938" y="1874519"/>
            <a:ext cx="3423818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risk_analytics.png">
            <a:extLst>
              <a:ext uri="{FF2B5EF4-FFF2-40B4-BE49-F238E27FC236}">
                <a16:creationId xmlns:a16="http://schemas.microsoft.com/office/drawing/2014/main" id="{B67BEB00-243C-4EEB-D180-F23B87182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543" y="2020823"/>
            <a:ext cx="2978608" cy="13624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765919B-F6D8-A73A-9A1A-92A9EF6AC940}"/>
              </a:ext>
            </a:extLst>
          </p:cNvPr>
          <p:cNvSpPr txBox="1"/>
          <p:nvPr/>
        </p:nvSpPr>
        <p:spPr>
          <a:xfrm>
            <a:off x="4475378" y="3474718"/>
            <a:ext cx="324093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5A1"/>
                </a:solidFill>
                <a:latin typeface="IBM Plex Mono"/>
              </a:rPr>
              <a:t>Students at-risk analytics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792A589-1F90-D373-0782-9E26B798D122}"/>
              </a:ext>
            </a:extLst>
          </p:cNvPr>
          <p:cNvSpPr/>
          <p:nvPr/>
        </p:nvSpPr>
        <p:spPr>
          <a:xfrm>
            <a:off x="8082076" y="1874519"/>
            <a:ext cx="3423818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BF36AA-3675-8861-118B-5D22566F2D6B}"/>
              </a:ext>
            </a:extLst>
          </p:cNvPr>
          <p:cNvSpPr/>
          <p:nvPr/>
        </p:nvSpPr>
        <p:spPr>
          <a:xfrm>
            <a:off x="8082076" y="1874519"/>
            <a:ext cx="3423818" cy="54864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predictive_report.png">
            <a:extLst>
              <a:ext uri="{FF2B5EF4-FFF2-40B4-BE49-F238E27FC236}">
                <a16:creationId xmlns:a16="http://schemas.microsoft.com/office/drawing/2014/main" id="{D488C4BD-8BCC-8547-D454-A9C42C535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760" y="2020823"/>
            <a:ext cx="3026449" cy="136245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2D91D13-E818-50A2-D91D-13DE048B18EF}"/>
              </a:ext>
            </a:extLst>
          </p:cNvPr>
          <p:cNvSpPr txBox="1"/>
          <p:nvPr/>
        </p:nvSpPr>
        <p:spPr>
          <a:xfrm>
            <a:off x="8173516" y="3474718"/>
            <a:ext cx="324093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5A1"/>
                </a:solidFill>
                <a:latin typeface="IBM Plex Mono"/>
              </a:rPr>
              <a:t>Student-wise predictive report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31493CE-BDDE-0120-34AE-0B7D31598A89}"/>
              </a:ext>
            </a:extLst>
          </p:cNvPr>
          <p:cNvSpPr/>
          <p:nvPr/>
        </p:nvSpPr>
        <p:spPr>
          <a:xfrm>
            <a:off x="685800" y="3931918"/>
            <a:ext cx="3423818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FDFB0A-0F4B-C0A4-7B1B-45DEB6BCCEDA}"/>
              </a:ext>
            </a:extLst>
          </p:cNvPr>
          <p:cNvSpPr/>
          <p:nvPr/>
        </p:nvSpPr>
        <p:spPr>
          <a:xfrm>
            <a:off x="685800" y="3931918"/>
            <a:ext cx="3423818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ai_insights.png">
            <a:extLst>
              <a:ext uri="{FF2B5EF4-FFF2-40B4-BE49-F238E27FC236}">
                <a16:creationId xmlns:a16="http://schemas.microsoft.com/office/drawing/2014/main" id="{47051895-B73E-0C89-4633-CFAED25BE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383" y="4078222"/>
            <a:ext cx="2998652" cy="136245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D27EDA0-64AD-2798-6D11-907D10179DBA}"/>
              </a:ext>
            </a:extLst>
          </p:cNvPr>
          <p:cNvSpPr txBox="1"/>
          <p:nvPr/>
        </p:nvSpPr>
        <p:spPr>
          <a:xfrm>
            <a:off x="777240" y="5532117"/>
            <a:ext cx="324093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5A1"/>
                </a:solidFill>
                <a:latin typeface="IBM Plex Mono"/>
              </a:rPr>
              <a:t>Student-wise AI insights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BD7487D-250D-A4E6-57EC-7F27B87B8923}"/>
              </a:ext>
            </a:extLst>
          </p:cNvPr>
          <p:cNvSpPr/>
          <p:nvPr/>
        </p:nvSpPr>
        <p:spPr>
          <a:xfrm>
            <a:off x="4383938" y="3931918"/>
            <a:ext cx="3423818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D4AA9A-DA82-9A33-61C4-B4BEC0A20243}"/>
              </a:ext>
            </a:extLst>
          </p:cNvPr>
          <p:cNvSpPr/>
          <p:nvPr/>
        </p:nvSpPr>
        <p:spPr>
          <a:xfrm>
            <a:off x="4383938" y="3931918"/>
            <a:ext cx="3423818" cy="54864"/>
          </a:xfrm>
          <a:prstGeom prst="rect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login.png">
            <a:extLst>
              <a:ext uri="{FF2B5EF4-FFF2-40B4-BE49-F238E27FC236}">
                <a16:creationId xmlns:a16="http://schemas.microsoft.com/office/drawing/2014/main" id="{8613C277-C13C-670E-A12D-DC617D55BA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1339" y="4078222"/>
            <a:ext cx="3009016" cy="136245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63E737B-9610-2216-A84A-28F182D56063}"/>
              </a:ext>
            </a:extLst>
          </p:cNvPr>
          <p:cNvSpPr txBox="1"/>
          <p:nvPr/>
        </p:nvSpPr>
        <p:spPr>
          <a:xfrm>
            <a:off x="4475378" y="5532117"/>
            <a:ext cx="324093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5A1"/>
                </a:solidFill>
                <a:latin typeface="IBM Plex Mono"/>
              </a:rPr>
              <a:t>Login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EC881C9-8C8D-27F6-899F-C99871243FFA}"/>
              </a:ext>
            </a:extLst>
          </p:cNvPr>
          <p:cNvSpPr/>
          <p:nvPr/>
        </p:nvSpPr>
        <p:spPr>
          <a:xfrm>
            <a:off x="8082076" y="3931918"/>
            <a:ext cx="3423818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1E963D-E002-B78D-2733-BCCE43F02819}"/>
              </a:ext>
            </a:extLst>
          </p:cNvPr>
          <p:cNvSpPr/>
          <p:nvPr/>
        </p:nvSpPr>
        <p:spPr>
          <a:xfrm>
            <a:off x="8082076" y="3931918"/>
            <a:ext cx="3423818" cy="54864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api_console.png">
            <a:extLst>
              <a:ext uri="{FF2B5EF4-FFF2-40B4-BE49-F238E27FC236}">
                <a16:creationId xmlns:a16="http://schemas.microsoft.com/office/drawing/2014/main" id="{0F3F1B48-C3A4-3A2D-E60F-F2379A21DF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1250" y="4078222"/>
            <a:ext cx="2985471" cy="136245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8E0946C-FA7B-2406-A3FC-4521302F300F}"/>
              </a:ext>
            </a:extLst>
          </p:cNvPr>
          <p:cNvSpPr txBox="1"/>
          <p:nvPr/>
        </p:nvSpPr>
        <p:spPr>
          <a:xfrm>
            <a:off x="8173516" y="5532117"/>
            <a:ext cx="324093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5A1"/>
                </a:solidFill>
                <a:latin typeface="IBM Plex Mono"/>
              </a:rPr>
              <a:t>API console</a:t>
            </a:r>
          </a:p>
        </p:txBody>
      </p:sp>
      <p:cxnSp>
        <p:nvCxnSpPr>
          <p:cNvPr id="32" name="Connector 31">
            <a:extLst>
              <a:ext uri="{FF2B5EF4-FFF2-40B4-BE49-F238E27FC236}">
                <a16:creationId xmlns:a16="http://schemas.microsoft.com/office/drawing/2014/main" id="{3FC9BA46-08EE-99FA-DF5C-68D9B0E0B1F8}"/>
              </a:ext>
            </a:extLst>
          </p:cNvPr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D93C777-E7E0-AEE8-F13F-13B24502324F}"/>
              </a:ext>
            </a:extLst>
          </p:cNvPr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C9CB1F-7091-F2D9-A426-949016DA75A5}"/>
              </a:ext>
            </a:extLst>
          </p:cNvPr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Explainability &amp; Evaluation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16AA6E-4D94-1A89-4132-1B10DBE96DBE}"/>
              </a:ext>
            </a:extLst>
          </p:cNvPr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§4.5.3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E46D74-FDF1-C606-6E17-64B5BCED589D}"/>
              </a:ext>
            </a:extLst>
          </p:cNvPr>
          <p:cNvSpPr txBox="1"/>
          <p:nvPr/>
        </p:nvSpPr>
        <p:spPr>
          <a:xfrm>
            <a:off x="10500055" y="6519672"/>
            <a:ext cx="10058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dirty="0">
                <a:solidFill>
                  <a:srgbClr val="8B95A1"/>
                </a:solidFill>
                <a:latin typeface="IBM Plex Mono"/>
              </a:rPr>
              <a:t>17 </a:t>
            </a:r>
            <a:r>
              <a:rPr lang="en-AU" sz="1050" b="0" dirty="0">
                <a:solidFill>
                  <a:srgbClr val="8B95A1"/>
                </a:solidFill>
                <a:latin typeface="IBM Plex Mono"/>
              </a:rPr>
              <a:t>`</a:t>
            </a:r>
            <a:endParaRPr sz="1050" b="0" dirty="0">
              <a:solidFill>
                <a:srgbClr val="8B95A1"/>
              </a:solidFill>
              <a:latin typeface="IBM Plex Mono"/>
            </a:endParaRPr>
          </a:p>
        </p:txBody>
      </p:sp>
    </p:spTree>
    <p:extLst>
      <p:ext uri="{BB962C8B-B14F-4D97-AF65-F5344CB8AC3E}">
        <p14:creationId xmlns:p14="http://schemas.microsoft.com/office/powerpoint/2010/main" val="2783877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HOW WE TESTED IT · §6 EVALUATION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</a:t>
            </a:r>
            <a:r>
              <a:rPr lang="en-AU" sz="1100" dirty="0" err="1">
                <a:solidFill>
                  <a:srgbClr val="CFE3EA"/>
                </a:solidFill>
                <a:latin typeface="IBM Plex Mono"/>
              </a:rPr>
              <a:t>Preety</a:t>
            </a:r>
            <a:r>
              <a:rPr lang="en-AU" sz="1100" dirty="0">
                <a:solidFill>
                  <a:srgbClr val="CFE3EA"/>
                </a:solidFill>
                <a:latin typeface="IBM Plex Mono"/>
              </a:rPr>
              <a:t> Khatri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Testing to find faults, not to confirm we were right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2499284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54864" cy="23774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22199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2219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194560"/>
            <a:ext cx="13471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807208"/>
            <a:ext cx="19872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Validation rules, boundary conditions, SHAP reconstruction.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03372" y="3063240"/>
            <a:ext cx="237744" cy="130759"/>
          </a:xfrm>
          <a:prstGeom prst="rightArrow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59404" y="1965960"/>
            <a:ext cx="2499284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59404" y="1965960"/>
            <a:ext cx="54864" cy="23774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715436" y="222199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5436" y="22219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5516" y="2194560"/>
            <a:ext cx="13471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5436" y="2807208"/>
            <a:ext cx="19872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Frontend -&gt; API -&gt; DB -&gt; background jobs, end to end.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76976" y="3063240"/>
            <a:ext cx="237744" cy="130759"/>
          </a:xfrm>
          <a:prstGeom prst="rightArrow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33008" y="1965960"/>
            <a:ext cx="2499284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3008" y="1965960"/>
            <a:ext cx="54864" cy="23774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9040" y="222199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9040" y="22219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9120" y="2194560"/>
            <a:ext cx="13471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Data 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9040" y="2807208"/>
            <a:ext cx="19872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Every dashboard number checked against a real institutional extract.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50580" y="3063240"/>
            <a:ext cx="237744" cy="130759"/>
          </a:xfrm>
          <a:prstGeom prst="rightArrow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06612" y="1965960"/>
            <a:ext cx="2499284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06612" y="1965960"/>
            <a:ext cx="54864" cy="23774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262644" y="222199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62644" y="22219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2724" y="2194560"/>
            <a:ext cx="13471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User acceptance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644" y="2807208"/>
            <a:ext cx="19872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Walked through with the client, role by role.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Explainability &amp; 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18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WHAT WE FOUND · §7.3 KEY DEFECTS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</a:t>
            </a:r>
            <a:r>
              <a:rPr lang="en-AU" sz="1100" dirty="0" err="1">
                <a:solidFill>
                  <a:srgbClr val="CFE3EA"/>
                </a:solidFill>
                <a:latin typeface="IBM Plex Mono"/>
              </a:rPr>
              <a:t>Preety</a:t>
            </a:r>
            <a:r>
              <a:rPr lang="en-AU" sz="1100" dirty="0">
                <a:solidFill>
                  <a:srgbClr val="CFE3EA"/>
                </a:solidFill>
                <a:latin typeface="IBM Plex Mono"/>
              </a:rPr>
              <a:t> Khatri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The evaluation earned its keep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IBM Plex Mono"/>
              </a:rPr>
              <a:t>TC-07 — SAME COUNT, TO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1343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55F6B"/>
                </a:solidFill>
                <a:latin typeface="Manrope"/>
              </a:rPr>
              <a:t>Before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331720"/>
            <a:ext cx="2011680" cy="10972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26080" y="2331720"/>
            <a:ext cx="2011680" cy="109728"/>
          </a:xfrm>
          <a:prstGeom prst="roundRect">
            <a:avLst>
              <a:gd name="adj" fmla="val 4500"/>
            </a:avLst>
          </a:prstGeom>
          <a:solidFill>
            <a:srgbClr val="D9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4920" y="227685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A1A1A"/>
                </a:solidFill>
                <a:latin typeface="IBM Plex Mono"/>
              </a:rPr>
              <a:t>57,710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620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55F6B"/>
                </a:solidFill>
                <a:latin typeface="Manrope"/>
              </a:rPr>
              <a:t>After fix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880360"/>
            <a:ext cx="2011680" cy="10972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26080" y="2880360"/>
            <a:ext cx="275600" cy="109728"/>
          </a:xfrm>
          <a:prstGeom prst="roundRect">
            <a:avLst>
              <a:gd name="adj" fmla="val 4500"/>
            </a:avLst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0" y="282549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A1A1A"/>
                </a:solidFill>
                <a:latin typeface="IBM Plex Mono"/>
              </a:rPr>
              <a:t>7,926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2900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F6B"/>
                </a:solidFill>
                <a:latin typeface="Manrope"/>
              </a:rPr>
              <a:t>An “at-risk” count was tallying assessment rows, not students. Fixed to count unique students.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20240"/>
            <a:ext cx="5242255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1920240"/>
            <a:ext cx="54864" cy="1600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19672" y="2176272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9672" y="2176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409011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97706"/>
                </a:solidFill>
                <a:latin typeface="IBM Plex Mono"/>
              </a:rPr>
              <a:t>§7.3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2386584"/>
            <a:ext cx="40901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Passing tests, failing predictions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761488"/>
            <a:ext cx="473019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A live prediction outage ran undetected — the suite only ever tested half the serving path.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657600"/>
            <a:ext cx="5242255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3657600"/>
            <a:ext cx="54864" cy="1600200"/>
          </a:xfrm>
          <a:prstGeom prst="rect">
            <a:avLst/>
          </a:prstGeom>
          <a:solidFill>
            <a:srgbClr val="D9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19672" y="3913632"/>
            <a:ext cx="457200" cy="457200"/>
          </a:xfrm>
          <a:prstGeom prst="ellipse">
            <a:avLst/>
          </a:prstGeom>
          <a:solidFill>
            <a:srgbClr val="D9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9672" y="39136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3886200"/>
            <a:ext cx="409011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94F4F"/>
                </a:solidFill>
                <a:latin typeface="IBM Plex Mono"/>
              </a:rPr>
              <a:t>TC-03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123944"/>
            <a:ext cx="40901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Deleted, but still signed 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4498848"/>
            <a:ext cx="473019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A valid JWT outlived the account it belonged to. Now checked against the database, every request.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Evidence &amp; Rigor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§7.3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19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DATA PRIVACY 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</a:t>
            </a:r>
            <a:r>
              <a:rPr lang="en-AU" sz="1100" dirty="0" err="1">
                <a:solidFill>
                  <a:srgbClr val="CFE3EA"/>
                </a:solidFill>
                <a:latin typeface="IBM Plex Mono"/>
              </a:rPr>
              <a:t>Preety</a:t>
            </a:r>
            <a:r>
              <a:rPr lang="en-AU" sz="1100" dirty="0">
                <a:solidFill>
                  <a:srgbClr val="CFE3EA"/>
                </a:solidFill>
                <a:latin typeface="IBM Plex Mono"/>
              </a:rPr>
              <a:t> Khatri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Pseudonymised, and we say so plainly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476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55F6B"/>
                </a:solidFill>
                <a:latin typeface="Manrope"/>
              </a:rPr>
              <a:t>Students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965960"/>
            <a:ext cx="7619695" cy="10972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26080" y="1965960"/>
            <a:ext cx="4648014" cy="109728"/>
          </a:xfrm>
          <a:prstGeom prst="roundRect">
            <a:avLst>
              <a:gd name="adj" fmla="val 4500"/>
            </a:avLst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82935" y="191109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A1A1A"/>
                </a:solidFill>
                <a:latin typeface="IBM Plex Mono"/>
              </a:rPr>
              <a:t>7,926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9631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55F6B"/>
                </a:solidFill>
                <a:latin typeface="Manrope"/>
              </a:rPr>
              <a:t>Assessment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514600"/>
            <a:ext cx="7619695" cy="10972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26080" y="2514600"/>
            <a:ext cx="6552938" cy="109728"/>
          </a:xfrm>
          <a:prstGeom prst="roundRect">
            <a:avLst>
              <a:gd name="adj" fmla="val 4500"/>
            </a:avLst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82935" y="245973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A1A1A"/>
                </a:solidFill>
                <a:latin typeface="IBM Plex Mono"/>
              </a:rPr>
              <a:t>327,501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44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55F6B"/>
                </a:solidFill>
                <a:latin typeface="Manrope"/>
              </a:rPr>
              <a:t>Attendance sessions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063240"/>
            <a:ext cx="7619695" cy="10972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926080" y="3063240"/>
            <a:ext cx="7619695" cy="109728"/>
          </a:xfrm>
          <a:prstGeom prst="roundRect">
            <a:avLst>
              <a:gd name="adj" fmla="val 4500"/>
            </a:avLst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82935" y="300837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A1A1A"/>
                </a:solidFill>
                <a:latin typeface="IBM Plex Mono"/>
              </a:rPr>
              <a:t>2.5M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657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B95A1"/>
                </a:solidFill>
                <a:latin typeface="Manrope"/>
              </a:rPr>
              <a:t>Shown on a log scale — each row is a different unit (students, then records, then sessions).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60520"/>
            <a:ext cx="10820095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160520"/>
            <a:ext cx="54864" cy="16916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41832" y="441655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nut 23"/>
          <p:cNvSpPr/>
          <p:nvPr/>
        </p:nvSpPr>
        <p:spPr>
          <a:xfrm>
            <a:off x="1074420" y="4489704"/>
            <a:ext cx="192024" cy="192024"/>
          </a:xfrm>
          <a:prstGeom prst="donu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2416" y="4608576"/>
            <a:ext cx="256032" cy="164592"/>
          </a:xfrm>
          <a:prstGeom prst="roundRect">
            <a:avLst>
              <a:gd name="adj" fmla="val 28000"/>
            </a:avLst>
          </a:prstGeom>
          <a:solidFill>
            <a:srgbClr val="2E6E8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" y="5001768"/>
            <a:ext cx="10308031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Pseudonymised is not anonymised, and we don't claim otherwise — re-identification risk from combined attributes hasn't been ruled out.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Ethics, Fairness &amp;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§8.1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21 /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CLOSING THE LOOP · §11–12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</a:t>
            </a:r>
            <a:r>
              <a:rPr lang="en-AU" sz="1100" dirty="0" err="1">
                <a:solidFill>
                  <a:srgbClr val="CFE3EA"/>
                </a:solidFill>
                <a:latin typeface="IBM Plex Mono"/>
              </a:rPr>
              <a:t>Preety</a:t>
            </a:r>
            <a:r>
              <a:rPr lang="en-AU" sz="1100" dirty="0">
                <a:solidFill>
                  <a:srgbClr val="CFE3EA"/>
                </a:solidFill>
                <a:latin typeface="IBM Plex Mono"/>
              </a:rPr>
              <a:t> Khatri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Back to the problems we started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181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A57F"/>
                </a:solidFill>
                <a:latin typeface="IBM Plex Mono"/>
              </a:rPr>
              <a:t>DELIVERED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5181448" cy="960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194560"/>
            <a:ext cx="54864" cy="9601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1832" y="2450592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24505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42316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Risk flagged from the start of term, not after a bad grade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91840"/>
            <a:ext cx="5181448" cy="960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291840"/>
            <a:ext cx="54864" cy="9601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1832" y="3547872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547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352044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Every intervention logged and reviewable over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89120"/>
            <a:ext cx="5181448" cy="960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4389120"/>
            <a:ext cx="54864" cy="9601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41832" y="4645152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" y="46451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461772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Reports drawn live from one dataset — not five spreadsheets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8" y="1828800"/>
            <a:ext cx="5181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6E8E"/>
                </a:solidFill>
                <a:latin typeface="IBM Plex Mono"/>
              </a:rPr>
              <a:t>NEXT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4448" y="2194560"/>
            <a:ext cx="5181448" cy="960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24448" y="2194560"/>
            <a:ext cx="54864" cy="9601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80480" y="245059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0480" y="24505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0560" y="242316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Direct LMS integration, replacing manual ingestion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4448" y="3291840"/>
            <a:ext cx="5181448" cy="960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24448" y="3291840"/>
            <a:ext cx="54864" cy="9601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580480" y="354787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0480" y="3547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0560" y="352044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Counterfactual recommendations — modelled impact, not just a suggestion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4448" y="4389120"/>
            <a:ext cx="5181448" cy="960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24448" y="4389120"/>
            <a:ext cx="54864" cy="9601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580480" y="464515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0480" y="46451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0560" y="461772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Explainability rolled up to cohort and institution level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Impact &amp; Close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§11–12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24 / 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NOW,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CFE3EA"/>
                </a:solidFill>
                <a:latin typeface="IBM Plex Mono"/>
              </a:rPr>
              <a:t>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Let's look at EDAPT v2 itself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10820095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54864" cy="9144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22199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2219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194560"/>
            <a:ext cx="96679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An institution-wide dashboard, filtered down to one subject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63240"/>
            <a:ext cx="10820095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063240"/>
            <a:ext cx="54864" cy="9144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1832" y="331927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319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3291840"/>
            <a:ext cx="96679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A single student's prediction, with its SHAP explanation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60520"/>
            <a:ext cx="10820095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160520"/>
            <a:ext cx="54864" cy="9144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41832" y="441655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44165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4389120"/>
            <a:ext cx="96679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Logging an intervention against that prediction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257800"/>
            <a:ext cx="10820095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5257800"/>
            <a:ext cx="54864" cy="9144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41832" y="55138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" y="5513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5486400"/>
            <a:ext cx="96679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Switching the AI provider live, from the admin settings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Impact &amp; Close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25 / 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4114800"/>
            <a:ext cx="4114800" cy="4114800"/>
          </a:xfrm>
          <a:prstGeom prst="ellipse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65176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anrope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D6DF"/>
                </a:solidFill>
                <a:latin typeface="Manrope"/>
              </a:rPr>
              <a:t>Questions — about the model, the incident, or anything in between.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1940</Words>
  <Application>Microsoft Office PowerPoint</Application>
  <PresentationFormat>Widescreen</PresentationFormat>
  <Paragraphs>388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IBM Plex Mono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Nitesh BHATTA</cp:lastModifiedBy>
  <cp:revision>32</cp:revision>
  <dcterms:created xsi:type="dcterms:W3CDTF">2013-01-27T09:14:16Z</dcterms:created>
  <dcterms:modified xsi:type="dcterms:W3CDTF">2026-09-17T12:15:56Z</dcterms:modified>
  <cp:category/>
</cp:coreProperties>
</file>