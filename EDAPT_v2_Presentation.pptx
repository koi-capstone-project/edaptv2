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9" r:id="rId5"/>
    <p:sldId id="290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2" r:id="rId16"/>
    <p:sldId id="283" r:id="rId17"/>
    <p:sldId id="282" r:id="rId18"/>
    <p:sldId id="293" r:id="rId19"/>
    <p:sldId id="268" r:id="rId20"/>
    <p:sldId id="291" r:id="rId21"/>
    <p:sldId id="269" r:id="rId22"/>
    <p:sldId id="298" r:id="rId23"/>
    <p:sldId id="294" r:id="rId24"/>
    <p:sldId id="295" r:id="rId25"/>
    <p:sldId id="287" r:id="rId26"/>
    <p:sldId id="284" r:id="rId27"/>
    <p:sldId id="270" r:id="rId28"/>
    <p:sldId id="285" r:id="rId29"/>
    <p:sldId id="296" r:id="rId30"/>
    <p:sldId id="297" r:id="rId31"/>
    <p:sldId id="286" r:id="rId32"/>
    <p:sldId id="288" r:id="rId33"/>
    <p:sldId id="292" r:id="rId34"/>
    <p:sldId id="273" r:id="rId35"/>
    <p:sldId id="274" r:id="rId36"/>
    <p:sldId id="276" r:id="rId37"/>
    <p:sldId id="279" r:id="rId38"/>
    <p:sldId id="280" r:id="rId39"/>
    <p:sldId id="28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11FEF2-E072-4037-9DA2-6AA8766C98F8}" type="doc">
      <dgm:prSet loTypeId="urn:microsoft.com/office/officeart/2018/5/layout/IconCircleLabel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AU"/>
        </a:p>
      </dgm:t>
    </dgm:pt>
    <dgm:pt modelId="{DCBF018F-F2CF-4D16-B932-44C950E7771E}">
      <dgm:prSet phldrT="[Text]" phldr="0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AU"/>
            <a:t>Audit Logs</a:t>
          </a:r>
        </a:p>
      </dgm:t>
    </dgm:pt>
    <dgm:pt modelId="{8C7B9A0B-5E2A-4A29-B7F4-51D37D08B19C}" type="parTrans" cxnId="{8DE1116B-FC33-42B9-BD86-2EBF5B800636}">
      <dgm:prSet/>
      <dgm:spPr/>
      <dgm:t>
        <a:bodyPr/>
        <a:lstStyle/>
        <a:p>
          <a:endParaRPr lang="en-AU"/>
        </a:p>
      </dgm:t>
    </dgm:pt>
    <dgm:pt modelId="{E149E884-3607-457E-AAE3-1DCA99FBD555}" type="sibTrans" cxnId="{8DE1116B-FC33-42B9-BD86-2EBF5B800636}">
      <dgm:prSet/>
      <dgm:spPr/>
      <dgm:t>
        <a:bodyPr/>
        <a:lstStyle/>
        <a:p>
          <a:endParaRPr lang="en-AU"/>
        </a:p>
      </dgm:t>
    </dgm:pt>
    <dgm:pt modelId="{A5409D48-B6EF-4E59-A110-F7DE36AE7BE5}">
      <dgm:prSet phldrT="[Text]" phldr="0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AU"/>
            <a:t>Chat Logs</a:t>
          </a:r>
        </a:p>
      </dgm:t>
    </dgm:pt>
    <dgm:pt modelId="{B990D7C8-8EE5-4474-B02B-A29A7661B59F}" type="parTrans" cxnId="{9710F6AB-9574-468F-9A65-96AC0E768D6C}">
      <dgm:prSet/>
      <dgm:spPr/>
      <dgm:t>
        <a:bodyPr/>
        <a:lstStyle/>
        <a:p>
          <a:endParaRPr lang="en-AU"/>
        </a:p>
      </dgm:t>
    </dgm:pt>
    <dgm:pt modelId="{7B8CC569-9CF3-4B27-BB52-0111FA104810}" type="sibTrans" cxnId="{9710F6AB-9574-468F-9A65-96AC0E768D6C}">
      <dgm:prSet/>
      <dgm:spPr/>
      <dgm:t>
        <a:bodyPr/>
        <a:lstStyle/>
        <a:p>
          <a:endParaRPr lang="en-AU"/>
        </a:p>
      </dgm:t>
    </dgm:pt>
    <dgm:pt modelId="{5B376696-55FD-4B95-8886-C0F820D527F6}">
      <dgm:prSet phldrT="[Text]" phldr="0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AU"/>
            <a:t>Email Logs</a:t>
          </a:r>
        </a:p>
      </dgm:t>
    </dgm:pt>
    <dgm:pt modelId="{8FAA8FCF-D251-457F-ABD6-C3AA01B60538}" type="parTrans" cxnId="{231F24AC-7C71-434A-A9D1-2EFA4616A5E4}">
      <dgm:prSet/>
      <dgm:spPr/>
      <dgm:t>
        <a:bodyPr/>
        <a:lstStyle/>
        <a:p>
          <a:endParaRPr lang="en-AU"/>
        </a:p>
      </dgm:t>
    </dgm:pt>
    <dgm:pt modelId="{0075D2E9-135D-4083-BC33-554643C4A14A}" type="sibTrans" cxnId="{231F24AC-7C71-434A-A9D1-2EFA4616A5E4}">
      <dgm:prSet/>
      <dgm:spPr/>
      <dgm:t>
        <a:bodyPr/>
        <a:lstStyle/>
        <a:p>
          <a:endParaRPr lang="en-AU"/>
        </a:p>
      </dgm:t>
    </dgm:pt>
    <dgm:pt modelId="{A1485569-C758-4C32-8291-E1B6180B9352}" type="pres">
      <dgm:prSet presAssocID="{8611FEF2-E072-4037-9DA2-6AA8766C98F8}" presName="root" presStyleCnt="0">
        <dgm:presLayoutVars>
          <dgm:dir/>
          <dgm:resizeHandles val="exact"/>
        </dgm:presLayoutVars>
      </dgm:prSet>
      <dgm:spPr/>
    </dgm:pt>
    <dgm:pt modelId="{35B615EB-3A65-4C61-8C43-D340D6BE498D}" type="pres">
      <dgm:prSet presAssocID="{DCBF018F-F2CF-4D16-B932-44C950E7771E}" presName="compNode" presStyleCnt="0"/>
      <dgm:spPr/>
    </dgm:pt>
    <dgm:pt modelId="{7FA3EFAD-AC8A-4DEC-A4D4-9F1F4D7A5490}" type="pres">
      <dgm:prSet presAssocID="{DCBF018F-F2CF-4D16-B932-44C950E7771E}" presName="iconBgRect" presStyleLbl="bgShp" presStyleIdx="0" presStyleCnt="3"/>
      <dgm:spPr/>
    </dgm:pt>
    <dgm:pt modelId="{E7624F9B-E014-4DD3-B278-9F58CA29F154}" type="pres">
      <dgm:prSet presAssocID="{DCBF018F-F2CF-4D16-B932-44C950E7771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C0ECF80F-C828-4D85-B11B-8D3D1A7DEC6F}" type="pres">
      <dgm:prSet presAssocID="{DCBF018F-F2CF-4D16-B932-44C950E7771E}" presName="spaceRect" presStyleCnt="0"/>
      <dgm:spPr/>
    </dgm:pt>
    <dgm:pt modelId="{EA8C445B-2706-4891-AF26-41F5837CF710}" type="pres">
      <dgm:prSet presAssocID="{DCBF018F-F2CF-4D16-B932-44C950E7771E}" presName="textRect" presStyleLbl="revTx" presStyleIdx="0" presStyleCnt="3">
        <dgm:presLayoutVars>
          <dgm:chMax val="1"/>
          <dgm:chPref val="1"/>
        </dgm:presLayoutVars>
      </dgm:prSet>
      <dgm:spPr/>
    </dgm:pt>
    <dgm:pt modelId="{0E12C651-1AB8-487A-961A-2709F1130FD1}" type="pres">
      <dgm:prSet presAssocID="{E149E884-3607-457E-AAE3-1DCA99FBD555}" presName="sibTrans" presStyleCnt="0"/>
      <dgm:spPr/>
    </dgm:pt>
    <dgm:pt modelId="{F282227A-4009-4372-B1BF-4D7AE1AB4120}" type="pres">
      <dgm:prSet presAssocID="{A5409D48-B6EF-4E59-A110-F7DE36AE7BE5}" presName="compNode" presStyleCnt="0"/>
      <dgm:spPr/>
    </dgm:pt>
    <dgm:pt modelId="{1B31BC8E-646C-4B19-9256-725BB9695642}" type="pres">
      <dgm:prSet presAssocID="{A5409D48-B6EF-4E59-A110-F7DE36AE7BE5}" presName="iconBgRect" presStyleLbl="bgShp" presStyleIdx="1" presStyleCnt="3"/>
      <dgm:spPr/>
    </dgm:pt>
    <dgm:pt modelId="{BD3F8B1A-59F8-4E47-9BA0-68E89FAD86A9}" type="pres">
      <dgm:prSet presAssocID="{A5409D48-B6EF-4E59-A110-F7DE36AE7BE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5D52417-DA0F-4565-BEB4-154CA622D841}" type="pres">
      <dgm:prSet presAssocID="{A5409D48-B6EF-4E59-A110-F7DE36AE7BE5}" presName="spaceRect" presStyleCnt="0"/>
      <dgm:spPr/>
    </dgm:pt>
    <dgm:pt modelId="{692718F9-8443-4E06-99E5-21CFCA7CB070}" type="pres">
      <dgm:prSet presAssocID="{A5409D48-B6EF-4E59-A110-F7DE36AE7BE5}" presName="textRect" presStyleLbl="revTx" presStyleIdx="1" presStyleCnt="3">
        <dgm:presLayoutVars>
          <dgm:chMax val="1"/>
          <dgm:chPref val="1"/>
        </dgm:presLayoutVars>
      </dgm:prSet>
      <dgm:spPr/>
    </dgm:pt>
    <dgm:pt modelId="{6AC859B1-7AE5-4667-A6F8-414EACAC7F85}" type="pres">
      <dgm:prSet presAssocID="{7B8CC569-9CF3-4B27-BB52-0111FA104810}" presName="sibTrans" presStyleCnt="0"/>
      <dgm:spPr/>
    </dgm:pt>
    <dgm:pt modelId="{C0EC9C2C-D22F-44D9-A0D6-6DB42EDCB628}" type="pres">
      <dgm:prSet presAssocID="{5B376696-55FD-4B95-8886-C0F820D527F6}" presName="compNode" presStyleCnt="0"/>
      <dgm:spPr/>
    </dgm:pt>
    <dgm:pt modelId="{B5BC0FA3-919C-46E4-9FFD-13579B458C81}" type="pres">
      <dgm:prSet presAssocID="{5B376696-55FD-4B95-8886-C0F820D527F6}" presName="iconBgRect" presStyleLbl="bgShp" presStyleIdx="2" presStyleCnt="3"/>
      <dgm:spPr/>
    </dgm:pt>
    <dgm:pt modelId="{0D8548E2-34C5-4E27-AE47-BFD754C28FFF}" type="pres">
      <dgm:prSet presAssocID="{5B376696-55FD-4B95-8886-C0F820D527F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087E7249-D779-4FAD-9DA1-A3685DDFFDEB}" type="pres">
      <dgm:prSet presAssocID="{5B376696-55FD-4B95-8886-C0F820D527F6}" presName="spaceRect" presStyleCnt="0"/>
      <dgm:spPr/>
    </dgm:pt>
    <dgm:pt modelId="{2CBBF51E-9CDD-4751-A4DD-475BC0FFEC89}" type="pres">
      <dgm:prSet presAssocID="{5B376696-55FD-4B95-8886-C0F820D527F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036C509-D8BB-4102-A284-9BFC690F1FB7}" type="presOf" srcId="{DCBF018F-F2CF-4D16-B932-44C950E7771E}" destId="{EA8C445B-2706-4891-AF26-41F5837CF710}" srcOrd="0" destOrd="0" presId="urn:microsoft.com/office/officeart/2018/5/layout/IconCircleLabelList"/>
    <dgm:cxn modelId="{8DE1116B-FC33-42B9-BD86-2EBF5B800636}" srcId="{8611FEF2-E072-4037-9DA2-6AA8766C98F8}" destId="{DCBF018F-F2CF-4D16-B932-44C950E7771E}" srcOrd="0" destOrd="0" parTransId="{8C7B9A0B-5E2A-4A29-B7F4-51D37D08B19C}" sibTransId="{E149E884-3607-457E-AAE3-1DCA99FBD555}"/>
    <dgm:cxn modelId="{B15894A6-F0E0-48D3-955D-A641E6BD0CB6}" type="presOf" srcId="{A5409D48-B6EF-4E59-A110-F7DE36AE7BE5}" destId="{692718F9-8443-4E06-99E5-21CFCA7CB070}" srcOrd="0" destOrd="0" presId="urn:microsoft.com/office/officeart/2018/5/layout/IconCircleLabelList"/>
    <dgm:cxn modelId="{9710F6AB-9574-468F-9A65-96AC0E768D6C}" srcId="{8611FEF2-E072-4037-9DA2-6AA8766C98F8}" destId="{A5409D48-B6EF-4E59-A110-F7DE36AE7BE5}" srcOrd="1" destOrd="0" parTransId="{B990D7C8-8EE5-4474-B02B-A29A7661B59F}" sibTransId="{7B8CC569-9CF3-4B27-BB52-0111FA104810}"/>
    <dgm:cxn modelId="{231F24AC-7C71-434A-A9D1-2EFA4616A5E4}" srcId="{8611FEF2-E072-4037-9DA2-6AA8766C98F8}" destId="{5B376696-55FD-4B95-8886-C0F820D527F6}" srcOrd="2" destOrd="0" parTransId="{8FAA8FCF-D251-457F-ABD6-C3AA01B60538}" sibTransId="{0075D2E9-135D-4083-BC33-554643C4A14A}"/>
    <dgm:cxn modelId="{203110D9-3714-4C57-B544-AD9074F85FB2}" type="presOf" srcId="{8611FEF2-E072-4037-9DA2-6AA8766C98F8}" destId="{A1485569-C758-4C32-8291-E1B6180B9352}" srcOrd="0" destOrd="0" presId="urn:microsoft.com/office/officeart/2018/5/layout/IconCircleLabelList"/>
    <dgm:cxn modelId="{00BF40E1-47E6-4CFA-B4B6-8688027147A5}" type="presOf" srcId="{5B376696-55FD-4B95-8886-C0F820D527F6}" destId="{2CBBF51E-9CDD-4751-A4DD-475BC0FFEC89}" srcOrd="0" destOrd="0" presId="urn:microsoft.com/office/officeart/2018/5/layout/IconCircleLabelList"/>
    <dgm:cxn modelId="{7E89485F-DB1E-4251-958F-C658AA17DA9C}" type="presParOf" srcId="{A1485569-C758-4C32-8291-E1B6180B9352}" destId="{35B615EB-3A65-4C61-8C43-D340D6BE498D}" srcOrd="0" destOrd="0" presId="urn:microsoft.com/office/officeart/2018/5/layout/IconCircleLabelList"/>
    <dgm:cxn modelId="{C8F034B9-0041-43DF-8003-220ECA48C0FC}" type="presParOf" srcId="{35B615EB-3A65-4C61-8C43-D340D6BE498D}" destId="{7FA3EFAD-AC8A-4DEC-A4D4-9F1F4D7A5490}" srcOrd="0" destOrd="0" presId="urn:microsoft.com/office/officeart/2018/5/layout/IconCircleLabelList"/>
    <dgm:cxn modelId="{7D69A6A4-29BE-4F94-AAAD-15C1B0284B2E}" type="presParOf" srcId="{35B615EB-3A65-4C61-8C43-D340D6BE498D}" destId="{E7624F9B-E014-4DD3-B278-9F58CA29F154}" srcOrd="1" destOrd="0" presId="urn:microsoft.com/office/officeart/2018/5/layout/IconCircleLabelList"/>
    <dgm:cxn modelId="{5A8AD6B2-2982-408C-A21E-ACA78D8F1E96}" type="presParOf" srcId="{35B615EB-3A65-4C61-8C43-D340D6BE498D}" destId="{C0ECF80F-C828-4D85-B11B-8D3D1A7DEC6F}" srcOrd="2" destOrd="0" presId="urn:microsoft.com/office/officeart/2018/5/layout/IconCircleLabelList"/>
    <dgm:cxn modelId="{684CEEFE-3B05-432E-8645-D23DFD42D652}" type="presParOf" srcId="{35B615EB-3A65-4C61-8C43-D340D6BE498D}" destId="{EA8C445B-2706-4891-AF26-41F5837CF710}" srcOrd="3" destOrd="0" presId="urn:microsoft.com/office/officeart/2018/5/layout/IconCircleLabelList"/>
    <dgm:cxn modelId="{085E3187-9D92-4175-81BC-B415172CBACD}" type="presParOf" srcId="{A1485569-C758-4C32-8291-E1B6180B9352}" destId="{0E12C651-1AB8-487A-961A-2709F1130FD1}" srcOrd="1" destOrd="0" presId="urn:microsoft.com/office/officeart/2018/5/layout/IconCircleLabelList"/>
    <dgm:cxn modelId="{1009296C-9838-4ECE-BA7A-6E9B2A6EAF7C}" type="presParOf" srcId="{A1485569-C758-4C32-8291-E1B6180B9352}" destId="{F282227A-4009-4372-B1BF-4D7AE1AB4120}" srcOrd="2" destOrd="0" presId="urn:microsoft.com/office/officeart/2018/5/layout/IconCircleLabelList"/>
    <dgm:cxn modelId="{D43AC068-EE38-444E-91FD-281612858D67}" type="presParOf" srcId="{F282227A-4009-4372-B1BF-4D7AE1AB4120}" destId="{1B31BC8E-646C-4B19-9256-725BB9695642}" srcOrd="0" destOrd="0" presId="urn:microsoft.com/office/officeart/2018/5/layout/IconCircleLabelList"/>
    <dgm:cxn modelId="{79D7278E-833C-47CD-89FC-670BC7CC748A}" type="presParOf" srcId="{F282227A-4009-4372-B1BF-4D7AE1AB4120}" destId="{BD3F8B1A-59F8-4E47-9BA0-68E89FAD86A9}" srcOrd="1" destOrd="0" presId="urn:microsoft.com/office/officeart/2018/5/layout/IconCircleLabelList"/>
    <dgm:cxn modelId="{2855A218-0762-4E04-A235-CF2FAF64E390}" type="presParOf" srcId="{F282227A-4009-4372-B1BF-4D7AE1AB4120}" destId="{D5D52417-DA0F-4565-BEB4-154CA622D841}" srcOrd="2" destOrd="0" presId="urn:microsoft.com/office/officeart/2018/5/layout/IconCircleLabelList"/>
    <dgm:cxn modelId="{EB534EEB-56AE-43C0-9453-57E7B4868418}" type="presParOf" srcId="{F282227A-4009-4372-B1BF-4D7AE1AB4120}" destId="{692718F9-8443-4E06-99E5-21CFCA7CB070}" srcOrd="3" destOrd="0" presId="urn:microsoft.com/office/officeart/2018/5/layout/IconCircleLabelList"/>
    <dgm:cxn modelId="{F3C45460-7994-4F49-93DF-1D962EBF9B27}" type="presParOf" srcId="{A1485569-C758-4C32-8291-E1B6180B9352}" destId="{6AC859B1-7AE5-4667-A6F8-414EACAC7F85}" srcOrd="3" destOrd="0" presId="urn:microsoft.com/office/officeart/2018/5/layout/IconCircleLabelList"/>
    <dgm:cxn modelId="{0B4EB563-7C54-42AD-9995-77F9D2F94569}" type="presParOf" srcId="{A1485569-C758-4C32-8291-E1B6180B9352}" destId="{C0EC9C2C-D22F-44D9-A0D6-6DB42EDCB628}" srcOrd="4" destOrd="0" presId="urn:microsoft.com/office/officeart/2018/5/layout/IconCircleLabelList"/>
    <dgm:cxn modelId="{090ABBF4-CD4C-4D2E-A266-9D22A5483CF9}" type="presParOf" srcId="{C0EC9C2C-D22F-44D9-A0D6-6DB42EDCB628}" destId="{B5BC0FA3-919C-46E4-9FFD-13579B458C81}" srcOrd="0" destOrd="0" presId="urn:microsoft.com/office/officeart/2018/5/layout/IconCircleLabelList"/>
    <dgm:cxn modelId="{A4E766CE-3429-47AF-A8F9-DC7FEAFF16D4}" type="presParOf" srcId="{C0EC9C2C-D22F-44D9-A0D6-6DB42EDCB628}" destId="{0D8548E2-34C5-4E27-AE47-BFD754C28FFF}" srcOrd="1" destOrd="0" presId="urn:microsoft.com/office/officeart/2018/5/layout/IconCircleLabelList"/>
    <dgm:cxn modelId="{2BD227D9-FFB5-4B5A-9D26-C1D6FF87EFC7}" type="presParOf" srcId="{C0EC9C2C-D22F-44D9-A0D6-6DB42EDCB628}" destId="{087E7249-D779-4FAD-9DA1-A3685DDFFDEB}" srcOrd="2" destOrd="0" presId="urn:microsoft.com/office/officeart/2018/5/layout/IconCircleLabelList"/>
    <dgm:cxn modelId="{D8D0E5E4-D26A-4BE1-A8C8-220343085072}" type="presParOf" srcId="{C0EC9C2C-D22F-44D9-A0D6-6DB42EDCB628}" destId="{2CBBF51E-9CDD-4751-A4DD-475BC0FFEC8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A3EFAD-AC8A-4DEC-A4D4-9F1F4D7A5490}">
      <dsp:nvSpPr>
        <dsp:cNvPr id="0" name=""/>
        <dsp:cNvSpPr/>
      </dsp:nvSpPr>
      <dsp:spPr>
        <a:xfrm>
          <a:off x="466565" y="1050001"/>
          <a:ext cx="1338187" cy="133818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624F9B-E014-4DD3-B278-9F58CA29F154}">
      <dsp:nvSpPr>
        <dsp:cNvPr id="0" name=""/>
        <dsp:cNvSpPr/>
      </dsp:nvSpPr>
      <dsp:spPr>
        <a:xfrm>
          <a:off x="751753" y="1335188"/>
          <a:ext cx="767812" cy="7678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C445B-2706-4891-AF26-41F5837CF710}">
      <dsp:nvSpPr>
        <dsp:cNvPr id="0" name=""/>
        <dsp:cNvSpPr/>
      </dsp:nvSpPr>
      <dsp:spPr>
        <a:xfrm>
          <a:off x="38784" y="2805001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AU" sz="3400" kern="1200"/>
            <a:t>Audit Logs</a:t>
          </a:r>
        </a:p>
      </dsp:txBody>
      <dsp:txXfrm>
        <a:off x="38784" y="2805001"/>
        <a:ext cx="2193750" cy="720000"/>
      </dsp:txXfrm>
    </dsp:sp>
    <dsp:sp modelId="{1B31BC8E-646C-4B19-9256-725BB9695642}">
      <dsp:nvSpPr>
        <dsp:cNvPr id="0" name=""/>
        <dsp:cNvSpPr/>
      </dsp:nvSpPr>
      <dsp:spPr>
        <a:xfrm>
          <a:off x="3044222" y="1050001"/>
          <a:ext cx="1338187" cy="133818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3F8B1A-59F8-4E47-9BA0-68E89FAD86A9}">
      <dsp:nvSpPr>
        <dsp:cNvPr id="0" name=""/>
        <dsp:cNvSpPr/>
      </dsp:nvSpPr>
      <dsp:spPr>
        <a:xfrm>
          <a:off x="3329409" y="1335188"/>
          <a:ext cx="767812" cy="7678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2718F9-8443-4E06-99E5-21CFCA7CB070}">
      <dsp:nvSpPr>
        <dsp:cNvPr id="0" name=""/>
        <dsp:cNvSpPr/>
      </dsp:nvSpPr>
      <dsp:spPr>
        <a:xfrm>
          <a:off x="2616441" y="2805001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AU" sz="3400" kern="1200"/>
            <a:t>Chat Logs</a:t>
          </a:r>
        </a:p>
      </dsp:txBody>
      <dsp:txXfrm>
        <a:off x="2616441" y="2805001"/>
        <a:ext cx="2193750" cy="720000"/>
      </dsp:txXfrm>
    </dsp:sp>
    <dsp:sp modelId="{B5BC0FA3-919C-46E4-9FFD-13579B458C81}">
      <dsp:nvSpPr>
        <dsp:cNvPr id="0" name=""/>
        <dsp:cNvSpPr/>
      </dsp:nvSpPr>
      <dsp:spPr>
        <a:xfrm>
          <a:off x="5621878" y="1050001"/>
          <a:ext cx="1338187" cy="133818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8548E2-34C5-4E27-AE47-BFD754C28FFF}">
      <dsp:nvSpPr>
        <dsp:cNvPr id="0" name=""/>
        <dsp:cNvSpPr/>
      </dsp:nvSpPr>
      <dsp:spPr>
        <a:xfrm>
          <a:off x="5907066" y="1335188"/>
          <a:ext cx="767812" cy="7678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BBF51E-9CDD-4751-A4DD-475BC0FFEC89}">
      <dsp:nvSpPr>
        <dsp:cNvPr id="0" name=""/>
        <dsp:cNvSpPr/>
      </dsp:nvSpPr>
      <dsp:spPr>
        <a:xfrm>
          <a:off x="5194097" y="2805001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AU" sz="3400" kern="1200"/>
            <a:t>Email Logs</a:t>
          </a:r>
        </a:p>
      </dsp:txBody>
      <dsp:txXfrm>
        <a:off x="5194097" y="2805001"/>
        <a:ext cx="2193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73152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FE3EA"/>
                </a:solidFill>
                <a:latin typeface="IBM Plex Mono"/>
              </a:rPr>
              <a:t>CAPSTONE PROJECT — PHASE II — KING'S OWN 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Manrope"/>
              </a:rPr>
              <a:t>EDAPT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8503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7D6DF"/>
                </a:solidFill>
                <a:latin typeface="Manrope"/>
              </a:rPr>
              <a:t>Educational Data Analytics &amp; Predictive Tool — a role-based analytics platform that turns disconnected CSV extracts into early, explainable warnings about student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9526"/>
            <a:ext cx="54864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050" b="0" dirty="0">
                <a:solidFill>
                  <a:srgbClr val="8CA5B3"/>
                </a:solidFill>
                <a:latin typeface="IBM Plex Mono"/>
              </a:rPr>
              <a:t>Prepared By:</a:t>
            </a:r>
          </a:p>
          <a:p>
            <a:pPr marL="228600" indent="-228600" algn="l">
              <a:buAutoNum type="arabicPeriod"/>
            </a:pPr>
            <a:r>
              <a:rPr lang="en-AU" sz="1050" dirty="0">
                <a:solidFill>
                  <a:srgbClr val="8CA5B3"/>
                </a:solidFill>
                <a:latin typeface="IBM Plex Mono"/>
              </a:rPr>
              <a:t>Griffins Leshan</a:t>
            </a:r>
          </a:p>
          <a:p>
            <a:pPr marL="228600" indent="-228600" algn="l">
              <a:buAutoNum type="arabicPeriod"/>
            </a:pPr>
            <a:r>
              <a:rPr lang="en-AU" sz="1050" dirty="0">
                <a:solidFill>
                  <a:srgbClr val="8CA5B3"/>
                </a:solidFill>
                <a:latin typeface="IBM Plex Mono"/>
              </a:rPr>
              <a:t>Gyani Bohara</a:t>
            </a:r>
          </a:p>
          <a:p>
            <a:pPr marL="228600" indent="-228600" algn="l">
              <a:buAutoNum type="arabicPeriod"/>
            </a:pPr>
            <a:r>
              <a:rPr lang="en-AU" sz="1050" dirty="0" err="1">
                <a:solidFill>
                  <a:srgbClr val="8CA5B3"/>
                </a:solidFill>
                <a:latin typeface="IBM Plex Mono"/>
              </a:rPr>
              <a:t>Koshish</a:t>
            </a:r>
            <a:r>
              <a:rPr lang="en-AU" sz="1050" dirty="0">
                <a:solidFill>
                  <a:srgbClr val="8CA5B3"/>
                </a:solidFill>
                <a:latin typeface="IBM Plex Mono"/>
              </a:rPr>
              <a:t> Shrestha</a:t>
            </a:r>
          </a:p>
          <a:p>
            <a:pPr marL="228600" indent="-228600" algn="l">
              <a:buAutoNum type="arabicPeriod"/>
            </a:pPr>
            <a:r>
              <a:rPr lang="en-AU" sz="1050" dirty="0">
                <a:solidFill>
                  <a:srgbClr val="8CA5B3"/>
                </a:solidFill>
                <a:latin typeface="IBM Plex Mono"/>
              </a:rPr>
              <a:t>Nitesh Bhatta</a:t>
            </a:r>
          </a:p>
          <a:p>
            <a:pPr marL="228600" indent="-228600" algn="l">
              <a:buAutoNum type="arabicPeriod"/>
            </a:pPr>
            <a:r>
              <a:rPr lang="en-AU" sz="1050" dirty="0">
                <a:solidFill>
                  <a:srgbClr val="8CA5B3"/>
                </a:solidFill>
                <a:latin typeface="IBM Plex Mono"/>
              </a:rPr>
              <a:t>Preeti Khatri</a:t>
            </a:r>
          </a:p>
          <a:p>
            <a:pPr marL="228600" indent="-228600" algn="l">
              <a:buAutoNum type="arabicPeriod"/>
            </a:pPr>
            <a:r>
              <a:rPr lang="en-AU" sz="1050" dirty="0">
                <a:solidFill>
                  <a:srgbClr val="8CA5B3"/>
                </a:solidFill>
                <a:latin typeface="IBM Plex Mono"/>
              </a:rPr>
              <a:t>Sangam Ghale Gurung</a:t>
            </a:r>
          </a:p>
          <a:p>
            <a:pPr marL="228600" indent="-228600" algn="l">
              <a:buAutoNum type="arabicPeriod"/>
            </a:pPr>
            <a:endParaRPr sz="1050" b="0" dirty="0">
              <a:solidFill>
                <a:srgbClr val="8CA5B3"/>
              </a:solidFill>
              <a:latin typeface="IBM Plex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CFE3EA"/>
                </a:solidFill>
                <a:latin typeface="IBM Plex Mono"/>
              </a:rPr>
              <a:t>RUNNING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b="0" dirty="0">
                <a:solidFill>
                  <a:srgbClr val="CFE3EA"/>
                </a:solidFill>
                <a:latin typeface="IBM Plex Mono"/>
              </a:rPr>
              <a:t>Presenter: Nitesh Bhatta</a:t>
            </a:r>
            <a:endParaRPr sz="1100" b="0" dirty="0">
              <a:solidFill>
                <a:srgbClr val="CFE3EA"/>
              </a:solidFill>
              <a:latin typeface="IBM Plex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What we'll cover, and where it lives in the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54864" cy="10515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130551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182179"/>
            <a:ext cx="457200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10311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The problem, who it's for, and what it's required to 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5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108959"/>
            <a:ext cx="54864" cy="10515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1832" y="3364991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416619"/>
            <a:ext cx="457200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33755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Architecture, system design and the database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4339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4343399"/>
            <a:ext cx="54864" cy="10515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41832" y="4599431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4651059"/>
            <a:ext cx="457200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57199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The tech stack, the two models, and the build timeline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8" y="187451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24448" y="1874519"/>
            <a:ext cx="54864" cy="105156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80480" y="2130551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0480" y="2182179"/>
            <a:ext cx="457200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6–7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0560" y="210311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How we tested it, and what we actually found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4448" y="310895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24448" y="3108959"/>
            <a:ext cx="54864" cy="105156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80480" y="3364991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0480" y="3416619"/>
            <a:ext cx="457200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8–9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0560" y="333755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Ethics, fairness and security — including what's still open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24448" y="4343399"/>
            <a:ext cx="5181448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24448" y="4343399"/>
            <a:ext cx="54864" cy="105156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580480" y="4599431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0480" y="4474088"/>
            <a:ext cx="457200" cy="7078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Manrope"/>
              </a:rPr>
              <a:t>11–12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0560" y="4571999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Benefits to KOI, what's next, and a live walkthrough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8455" y="65196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BEFORE EDAPT ·</a:t>
            </a:r>
            <a:r>
              <a:rPr lang="en-AU" sz="1100" b="0" dirty="0">
                <a:solidFill>
                  <a:srgbClr val="CFE3EA"/>
                </a:solidFill>
                <a:latin typeface="IBM Plex Mono"/>
              </a:rPr>
              <a:t> </a:t>
            </a:r>
            <a:r>
              <a:rPr sz="1100" b="0" dirty="0">
                <a:solidFill>
                  <a:srgbClr val="CFE3EA"/>
                </a:solidFill>
                <a:latin typeface="IBM Plex Mono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 dirty="0">
                <a:solidFill>
                  <a:srgbClr val="FFFFFF"/>
                </a:solidFill>
                <a:latin typeface="Manrope"/>
              </a:rPr>
              <a:t>Academic risk was found by accident, not by design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82880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181051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Assessment &amp; attendance data sat in CSV dumps too large to read by hand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277063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Risk was flagged only after a staff member happened to notice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74904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7490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73075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No standard way to compare subjects, cohorts, or terms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8" y="182880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4448" y="18288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1376" y="181051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Manual aggregation carried a real risk of human error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8" y="278892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4448" y="27889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1376" y="277063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Nothing predicted an outcome before it had already happened</a:t>
            </a:r>
          </a:p>
        </p:txBody>
      </p:sp>
      <p:sp>
        <p:nvSpPr>
          <p:cNvPr id="23" name="Oval 22"/>
          <p:cNvSpPr/>
          <p:nvPr/>
        </p:nvSpPr>
        <p:spPr>
          <a:xfrm>
            <a:off x="6324448" y="3749040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4448" y="37490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1376" y="3730752"/>
            <a:ext cx="46145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Manrope"/>
              </a:rPr>
              <a:t>No channel to act on a flagged student directly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1.3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B4C23-BDC0-E662-AAF4-FDDB9C7D7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92251D-7F24-82CB-B502-1C802AF615E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15E955-15F3-C42F-EC7D-6C4E07B0A8AE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E28338-F53B-8031-60DF-9B5CECA2D3B0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966AB-7129-028D-ED65-5AF7F5155119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BEFORE EDAPT ·</a:t>
            </a:r>
            <a:r>
              <a:rPr lang="en-AU" sz="1100" b="0" dirty="0">
                <a:solidFill>
                  <a:srgbClr val="CFE3EA"/>
                </a:solidFill>
                <a:latin typeface="IBM Plex Mono"/>
              </a:rPr>
              <a:t> </a:t>
            </a:r>
            <a:r>
              <a:rPr sz="1100" b="0" dirty="0">
                <a:solidFill>
                  <a:srgbClr val="CFE3EA"/>
                </a:solidFill>
                <a:latin typeface="IBM Plex Mono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95E41-07F4-F424-2A21-C3EA5B3B2102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0B576A-3300-F2F7-F44A-BDBED0AE2DFD}"/>
              </a:ext>
            </a:extLst>
          </p:cNvPr>
          <p:cNvSpPr txBox="1"/>
          <p:nvPr/>
        </p:nvSpPr>
        <p:spPr>
          <a:xfrm>
            <a:off x="685800" y="603504"/>
            <a:ext cx="10820095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AU" sz="2700" b="1" dirty="0">
                <a:solidFill>
                  <a:schemeClr val="bg1"/>
                </a:solidFill>
                <a:latin typeface="Manrope"/>
              </a:rPr>
              <a:t>Where EDAPT Started: Phase I</a:t>
            </a:r>
            <a:endParaRPr sz="2700" b="0" dirty="0">
              <a:solidFill>
                <a:schemeClr val="bg1"/>
              </a:solidFill>
              <a:latin typeface="Manrope"/>
            </a:endParaRPr>
          </a:p>
        </p:txBody>
      </p:sp>
      <p:cxnSp>
        <p:nvCxnSpPr>
          <p:cNvPr id="26" name="Connector 25">
            <a:extLst>
              <a:ext uri="{FF2B5EF4-FFF2-40B4-BE49-F238E27FC236}">
                <a16:creationId xmlns:a16="http://schemas.microsoft.com/office/drawing/2014/main" id="{3FEA6706-727F-EE27-F043-061D183245E9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20562CC-30BB-CF6F-4850-46296B0C3756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7B7577-7D57-5F3E-AA6A-D44509F78960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463DDD-8041-03E6-319D-5FE7A2E2B993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1.3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FFFDF1-9F7E-C32D-2FB0-2C1BAF5DF83F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03 / 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826A09C-5DB9-6756-C8BF-788AD85BD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19" y="1457939"/>
            <a:ext cx="10500055" cy="481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20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8226-A401-6DB6-27D0-8140E60F4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90FF67-CD93-A270-1657-C74FFA3BE7B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4B71A3-DB25-4AA9-ABEB-CB3BF8622D3D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A101A5-0978-8DCD-CD0D-48EFE663879B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3E6F6C-F287-390A-D901-83FF3D928376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BEFORE EDAPT ·</a:t>
            </a:r>
            <a:r>
              <a:rPr lang="en-AU" sz="1100" b="0" dirty="0">
                <a:solidFill>
                  <a:srgbClr val="CFE3EA"/>
                </a:solidFill>
                <a:latin typeface="IBM Plex Mono"/>
              </a:rPr>
              <a:t> </a:t>
            </a:r>
            <a:r>
              <a:rPr sz="1100" b="0" dirty="0">
                <a:solidFill>
                  <a:srgbClr val="CFE3EA"/>
                </a:solidFill>
                <a:latin typeface="IBM Plex Mono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50A95-79ED-0346-B11B-486289BE44A5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FEB5A-A7E6-D93B-CD58-8FD19A401E0F}"/>
              </a:ext>
            </a:extLst>
          </p:cNvPr>
          <p:cNvSpPr txBox="1"/>
          <p:nvPr/>
        </p:nvSpPr>
        <p:spPr>
          <a:xfrm>
            <a:off x="685800" y="603504"/>
            <a:ext cx="10820095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AU" sz="2700" b="1" dirty="0">
                <a:solidFill>
                  <a:schemeClr val="bg1"/>
                </a:solidFill>
                <a:latin typeface="Manrope"/>
              </a:rPr>
              <a:t>Where EDAPT Started: Phase I</a:t>
            </a:r>
            <a:endParaRPr sz="2700" b="0" dirty="0">
              <a:solidFill>
                <a:schemeClr val="bg1"/>
              </a:solidFill>
              <a:latin typeface="Manrope"/>
            </a:endParaRPr>
          </a:p>
        </p:txBody>
      </p:sp>
      <p:cxnSp>
        <p:nvCxnSpPr>
          <p:cNvPr id="26" name="Connector 25">
            <a:extLst>
              <a:ext uri="{FF2B5EF4-FFF2-40B4-BE49-F238E27FC236}">
                <a16:creationId xmlns:a16="http://schemas.microsoft.com/office/drawing/2014/main" id="{F5E7B31E-FE4A-DAE8-06DB-5BEF0146A015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F10D238-1327-672D-8406-CB899312C680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5B728C-7AB1-9F62-197C-2D5529C62FE0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09BEC4-C9D6-3404-6347-3400BA70C7DC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1.3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3EB329-CB3E-AEE8-1554-8E90F17C5D8E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03 / 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F9C10D-F3C9-13FC-8A2A-97A8DAB5B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328" y="1569965"/>
            <a:ext cx="9173344" cy="4808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73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73152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8229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>
                <a:solidFill>
                  <a:srgbClr val="CFE3EA"/>
                </a:solidFill>
                <a:latin typeface="IBM Plex Mono"/>
              </a:rPr>
              <a:t>THE AIM 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0584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Manrope"/>
              </a:rPr>
              <a:t>Build a system KOI can trust to say WHY — not just who's at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C7D6DF"/>
                </a:solidFill>
                <a:latin typeface="Manrope"/>
              </a:rPr>
              <a:t>Descriptive and predictive analytics, evaluated to a technically and ethically defensible standard — not a black box, and not a single reported accuracy figure.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83CAA3-C709-6D9A-0331-08EBFBD03746}"/>
              </a:ext>
            </a:extLst>
          </p:cNvPr>
          <p:cNvSpPr txBox="1"/>
          <p:nvPr/>
        </p:nvSpPr>
        <p:spPr>
          <a:xfrm>
            <a:off x="5152104" y="59436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100" b="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WHO IT'S BUILT FOR ·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Gyani Bohara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Three roles, three scopes of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3362858" cy="2743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54864" cy="274320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17627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176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●●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14884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6E8E"/>
                </a:solidFill>
                <a:latin typeface="IBM Plex Mono"/>
              </a:rPr>
              <a:t>SUBJECT-SCOPED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38658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Lecturer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761488"/>
            <a:ext cx="285079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Dashboards, predictions and at-risk students for the subjects they actually teach.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4418" y="1920240"/>
            <a:ext cx="3362858" cy="2743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14418" y="1920240"/>
            <a:ext cx="54864" cy="274320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670450" y="217627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70450" y="2176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●●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0530" y="214884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A57F"/>
                </a:solidFill>
                <a:latin typeface="IBM Plex Mono"/>
              </a:rPr>
              <a:t>INSTITUTION-WIDE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0530" y="238658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Head of School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0450" y="2761488"/>
            <a:ext cx="285079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Academic analytics and shared admin across data ingestion, model health and AI configuration.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036" y="1920240"/>
            <a:ext cx="3362858" cy="2743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43036" y="1920240"/>
            <a:ext cx="54864" cy="274320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399068" y="2176272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99068" y="2176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●●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9148" y="214884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FULL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9148" y="238658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Head of Technology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9068" y="2761488"/>
            <a:ext cx="285079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Everything above, plus the audit log, user management and the API console.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05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THE SYSTEM MUST DO ·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Gyani Bohara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Nine capabilities, from login to audit trail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08483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670048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Role-based access control at every endpoint.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828800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83938" y="1828800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639970" y="208483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39970" y="2084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0050" y="2057400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Data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9970" y="2670048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Accepts institutional CSV extracts, validating column structure on the way 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2076" y="1828800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82076" y="1828800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38108" y="208483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8108" y="2084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8188" y="2057400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Descriptive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8108" y="2670048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Institution-wide analytics, filterable by year, subject and lecturer.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364992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3364992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41832" y="3621024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1832" y="36210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593592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Predictive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4206240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 pass-probability for a given student and subject, from data confirmed available at prediction time.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938" y="3364992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383938" y="3364992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639970" y="3621024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39970" y="36210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0050" y="3593592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Model governance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9970" y="4206240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Every trained model is kept on record; nothing reaches production without human-authorised promotion.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2076" y="3364992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82076" y="3364992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338108" y="3621024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38108" y="36210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78188" y="3593592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Intervention tracking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8108" y="4206240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 record of action taken against a flagged student.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" y="4901184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85800" y="4901184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941832" y="5157216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1832" y="51572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81912" y="5129784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AI-assisted functionality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" y="5742432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Gemini, Anthropic or OpenAI, switchable at runtime with no redeploy.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3938" y="4901184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83938" y="4901184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639970" y="5157216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639970" y="51572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0050" y="5129784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Outgoing communication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9970" y="5742432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One or more SMTP servers, credentials encrypted at rest.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2076" y="4901184"/>
            <a:ext cx="3423818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082076" y="4901184"/>
            <a:ext cx="54864" cy="14173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38108" y="5157216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38108" y="51572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8188" y="5129784"/>
            <a:ext cx="227167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Auditability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8108" y="5742432"/>
            <a:ext cx="291175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 permanent trail of key administrative activity.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2.1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06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HOW IT MUST BEHAVE · NON-FUNCTIONAL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Gyani Bohara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Ten quality attributes, each with a stated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0848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6700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Dashboard loads within 3 seconds for a normal-sized extract.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432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27432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1832" y="29992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" y="29992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29718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Model 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5844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Fail-class precision/recall as the real criteria; accuracy is only a sanity check.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576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36576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41832" y="39136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2" y="39136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38862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Reliability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44988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Fails gracefully on missing data — never a confident, wrong answer.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5720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45720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41832" y="48280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1832" y="48280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48006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4132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JWT-authenticated sessions and role-based access on every sensitive endpoint.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4864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85800" y="54864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41832" y="57424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1832" y="57424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" y="57150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Privacy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24448" y="18288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24448" y="18288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580480" y="20848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0480" y="2084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0560" y="20574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Auditability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0480" y="26700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Every major admin action recorded and traceable.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24448" y="27432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24448" y="27432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580480" y="29992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80480" y="29992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0560" y="29718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Usability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0480" y="35844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Usable by academic staff with no SQL or data-analysis background.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24448" y="36576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324448" y="36576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580480" y="39136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0480" y="39136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0560" y="38862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Maintainability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0480" y="44988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Modular, documented, with a regression suite run on every change.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24448" y="45720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324448" y="45720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580480" y="48280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580480" y="48280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0560" y="48006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Scalability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0480" y="5413248"/>
            <a:ext cx="4669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Modular architecture — extendable with no redesign.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24448" y="5486400"/>
            <a:ext cx="5181448" cy="822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324448" y="5486400"/>
            <a:ext cx="54864" cy="8229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6580480" y="57424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580480" y="57424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0560" y="571500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Portability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Foundations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2.2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07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UNDER THE HOOD ·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Griffins Leshan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Three layers, each replaceable on its 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3179978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65960"/>
            <a:ext cx="54864" cy="237744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xagon 10"/>
          <p:cNvSpPr/>
          <p:nvPr/>
        </p:nvSpPr>
        <p:spPr>
          <a:xfrm>
            <a:off x="1069848" y="2350008"/>
            <a:ext cx="201168" cy="201168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81912" y="2194560"/>
            <a:ext cx="202783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6E8E"/>
                </a:solidFill>
                <a:latin typeface="IBM Plex Mono"/>
              </a:rPr>
              <a:t>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32304"/>
            <a:ext cx="20278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React 18 + Recharts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807208"/>
            <a:ext cx="266791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Role-scoped SPA; navigation guards for UX, never the security boundary.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20642" y="3017520"/>
            <a:ext cx="502920" cy="276606"/>
          </a:xfrm>
          <a:prstGeom prst="rightArrow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05858" y="1965960"/>
            <a:ext cx="3179978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05858" y="1965960"/>
            <a:ext cx="54864" cy="237744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761890" y="2221992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Gear 6 18"/>
          <p:cNvSpPr/>
          <p:nvPr/>
        </p:nvSpPr>
        <p:spPr>
          <a:xfrm>
            <a:off x="4889906" y="2350008"/>
            <a:ext cx="201168" cy="201168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1970" y="2194560"/>
            <a:ext cx="202783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970" y="2432304"/>
            <a:ext cx="20278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FastAPI · Gunicorn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1890" y="2807208"/>
            <a:ext cx="266791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Auth, business logic, the ML pipeline, and every external-service call.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740700" y="3017520"/>
            <a:ext cx="502920" cy="276606"/>
          </a:xfrm>
          <a:prstGeom prst="rightArrow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25916" y="1965960"/>
            <a:ext cx="3179978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325916" y="1965960"/>
            <a:ext cx="54864" cy="237744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581948" y="222199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an 26"/>
          <p:cNvSpPr/>
          <p:nvPr/>
        </p:nvSpPr>
        <p:spPr>
          <a:xfrm>
            <a:off x="8709964" y="2350008"/>
            <a:ext cx="201168" cy="201168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22028" y="2194560"/>
            <a:ext cx="202783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A57F"/>
                </a:solidFill>
                <a:latin typeface="IBM Plex Mono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028" y="2432304"/>
            <a:ext cx="20278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PostgreSQL 16 + 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1948" y="2807208"/>
            <a:ext cx="266791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Relational store for operations; academic data lives in-memory for speed.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709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B95A1"/>
                </a:solidFill>
                <a:latin typeface="Manrope"/>
              </a:rPr>
              <a:t>Proven in practice: the AI provider layer went from one hardcoded integration to a runtime-configurable one — with zero changes to the layers on either side.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08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IT'S ACTUALLY BUILT WITH · 5.2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Griffins Leshan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One stack per layer, nothing exotic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393338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54864" cy="214884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130551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ear 6 10"/>
          <p:cNvSpPr/>
          <p:nvPr/>
        </p:nvSpPr>
        <p:spPr>
          <a:xfrm>
            <a:off x="1069848" y="2258567"/>
            <a:ext cx="201168" cy="201168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81912" y="2103119"/>
            <a:ext cx="224119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340863"/>
            <a:ext cx="224119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Python 3.12 · 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715767"/>
            <a:ext cx="288127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Uvicorn for dev; Gunicorn + Uvicorn workers in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9178" y="1874519"/>
            <a:ext cx="3393338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99178" y="1874519"/>
            <a:ext cx="54864" cy="214884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655210" y="2130551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an 17"/>
          <p:cNvSpPr/>
          <p:nvPr/>
        </p:nvSpPr>
        <p:spPr>
          <a:xfrm>
            <a:off x="4783226" y="2258567"/>
            <a:ext cx="201168" cy="201168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95290" y="2103119"/>
            <a:ext cx="224119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A57F"/>
                </a:solidFill>
                <a:latin typeface="IBM Plex Mono"/>
              </a:rPr>
              <a:t>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290" y="2340863"/>
            <a:ext cx="224119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PostgreSQL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5210" y="2715767"/>
            <a:ext cx="288127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SQLAlchemy 2.0 with the async driver asyncpg end to 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2556" y="1874519"/>
            <a:ext cx="3393338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2556" y="1874519"/>
            <a:ext cx="54864" cy="2148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368588" y="2130551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ightning Bolt 24"/>
          <p:cNvSpPr/>
          <p:nvPr/>
        </p:nvSpPr>
        <p:spPr>
          <a:xfrm>
            <a:off x="8496604" y="2258567"/>
            <a:ext cx="201168" cy="201168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8668" y="2103119"/>
            <a:ext cx="224119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  <a:latin typeface="IBM Plex Mono"/>
              </a:rPr>
              <a:t>DATA &amp;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8668" y="2340863"/>
            <a:ext cx="224119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Pandas · Scikit-Learn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8588" y="2715767"/>
            <a:ext cx="288127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XGBoost models, SMOTE for imbalance, SHAP for explanation, Joblib for serialisation.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206239"/>
            <a:ext cx="3393338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5800" y="4206239"/>
            <a:ext cx="54864" cy="214884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41832" y="4462271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exagon 31"/>
          <p:cNvSpPr/>
          <p:nvPr/>
        </p:nvSpPr>
        <p:spPr>
          <a:xfrm>
            <a:off x="1069848" y="4590287"/>
            <a:ext cx="201168" cy="201168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81912" y="4434839"/>
            <a:ext cx="224119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6E8E"/>
                </a:solidFill>
                <a:latin typeface="IBM Plex Mono"/>
              </a:rPr>
              <a:t>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1912" y="4672583"/>
            <a:ext cx="224119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React 18 · Router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" y="5047487"/>
            <a:ext cx="288127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Recharts for data, Axios for API calls.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99178" y="4206239"/>
            <a:ext cx="3393338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99178" y="4206239"/>
            <a:ext cx="54864" cy="214884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655210" y="4462271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Cloud 38"/>
          <p:cNvSpPr/>
          <p:nvPr/>
        </p:nvSpPr>
        <p:spPr>
          <a:xfrm>
            <a:off x="4783226" y="4590287"/>
            <a:ext cx="201168" cy="201168"/>
          </a:xfrm>
          <a:prstGeom prst="clou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295290" y="4434839"/>
            <a:ext cx="224119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INFRASTRUCTURE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95290" y="4672583"/>
            <a:ext cx="224119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Docker Compose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55210" y="5047487"/>
            <a:ext cx="288127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Separate configurations for development and production.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09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HOW THE BUILD WAS TRACKED · 5 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Griffins Leshan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A work breakdown structure, checked weekly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77440"/>
            <a:ext cx="1487381" cy="685800"/>
          </a:xfrm>
          <a:prstGeom prst="roundRect">
            <a:avLst>
              <a:gd name="adj" fmla="val 4500"/>
            </a:avLst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596896"/>
            <a:ext cx="151481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Definition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613" y="2377440"/>
            <a:ext cx="1703783" cy="685800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0613" y="2596896"/>
            <a:ext cx="1731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828" y="2377440"/>
            <a:ext cx="1920185" cy="685800"/>
          </a:xfrm>
          <a:prstGeom prst="roundRect">
            <a:avLst>
              <a:gd name="adj" fmla="val 4500"/>
            </a:avLst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31828" y="2596896"/>
            <a:ext cx="194761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79445" y="2377440"/>
            <a:ext cx="2569391" cy="685800"/>
          </a:xfrm>
          <a:prstGeom prst="roundRect">
            <a:avLst>
              <a:gd name="adj" fmla="val 45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9445" y="2596896"/>
            <a:ext cx="25968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Development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76268" y="2377440"/>
            <a:ext cx="1703783" cy="685800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268" y="2596896"/>
            <a:ext cx="1731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Iteration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07483" y="2377440"/>
            <a:ext cx="1270979" cy="685800"/>
          </a:xfrm>
          <a:prstGeom prst="roundRect">
            <a:avLst>
              <a:gd name="adj" fmla="val 4500"/>
            </a:avLst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07483" y="2596896"/>
            <a:ext cx="12984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BM Plex Mono"/>
              </a:rPr>
              <a:t>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52044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55F6B"/>
                </a:solidFill>
                <a:latin typeface="Manrope"/>
              </a:rPr>
              <a:t>The trimester was tracked against these six phases, with weekly snapshots cross-referenced against the project's own progress log — not a plan made once and forgotten.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10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MODELLING IT BEFORE BUILDING IT · SYSTEM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Griffins Leshan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Manrope"/>
              </a:rPr>
              <a:t>Three roles, one set of classes, mapped before a line of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5204308" cy="4251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5204308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074" y="2066544"/>
            <a:ext cx="2309759" cy="3739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50214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Fig. 2 — Use Case Diagram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8" y="1920240"/>
            <a:ext cx="5204308" cy="4251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1588" y="1920240"/>
            <a:ext cx="5204308" cy="54864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class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028" y="2745410"/>
            <a:ext cx="5021428" cy="2382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93028" y="5897880"/>
            <a:ext cx="50214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Fig. 3 — System Class Diagram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4.1–4.2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11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WHAT'S ACTUALLY IN POSTGRES · 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Griffins Leshan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Manrope"/>
              </a:rPr>
              <a:t>Operations and governance are relational — academic data isn't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858000" cy="4434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6858000" cy="54864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276" y="1975104"/>
            <a:ext cx="4129047" cy="3922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89320"/>
            <a:ext cx="6675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Fig. 5 — Database ERD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828800"/>
            <a:ext cx="3474720" cy="4434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18120" y="1828800"/>
            <a:ext cx="54864" cy="443484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074152" y="20848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n 14"/>
          <p:cNvSpPr/>
          <p:nvPr/>
        </p:nvSpPr>
        <p:spPr>
          <a:xfrm>
            <a:off x="8202168" y="2212848"/>
            <a:ext cx="201168" cy="201168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14232" y="20574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What lives 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670048"/>
            <a:ext cx="2962656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Users, predictions, interventions, audit logs, mail servers and AI provider configs live here.</a:t>
            </a:r>
          </a:p>
          <a:p>
            <a:pPr algn="l">
              <a:lnSpc>
                <a:spcPct val="125000"/>
              </a:lnSpc>
            </a:pPr>
            <a:endParaRPr sz="1100" b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Academic source records don't — they're processed through Pandas DataFrames, not maintained as empty relational tables.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12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IT LOOKS LIKE · 4.5.3 T2 REFINEMENTS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</a:t>
            </a:r>
            <a:r>
              <a:rPr lang="en-AU" sz="1100" dirty="0" err="1">
                <a:solidFill>
                  <a:srgbClr val="CFE3EA"/>
                </a:solidFill>
                <a:latin typeface="IBM Plex Mono"/>
              </a:rPr>
              <a:t>Koshish</a:t>
            </a:r>
            <a:r>
              <a:rPr lang="en-AU" sz="1100" dirty="0">
                <a:solidFill>
                  <a:srgbClr val="CFE3EA"/>
                </a:solidFill>
                <a:latin typeface="IBM Plex Mono"/>
              </a:rPr>
              <a:t> Shrestha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Project UI/UX - Wireframe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Explainability &amp;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17 / 26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DF98F15-50CD-7E29-4EFD-18C5DED53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9888"/>
            <a:ext cx="12191999" cy="449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48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5BE9A-FCD4-E4A4-360B-CAC2C7ADF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5183F6-8B16-0021-6038-A234D2C08B7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E514AC-AA51-21CD-DABD-2366B6E83C20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1D78EC-68B7-120A-989F-589D24F060CC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B0C0C-B852-4D80-D0E2-34C04AC842C0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IT LOOKS LIKE · 4.5.3 T2 REFINEMENTS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BEB9EB-905D-EE75-289E-DD92AB695391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</a:t>
            </a:r>
            <a:r>
              <a:rPr lang="en-AU" sz="1100" dirty="0" err="1">
                <a:solidFill>
                  <a:srgbClr val="CFE3EA"/>
                </a:solidFill>
                <a:latin typeface="IBM Plex Mono"/>
              </a:rPr>
              <a:t>Koshish</a:t>
            </a:r>
            <a:r>
              <a:rPr lang="en-AU" sz="1100" dirty="0">
                <a:solidFill>
                  <a:srgbClr val="CFE3EA"/>
                </a:solidFill>
                <a:latin typeface="IBM Plex Mono"/>
              </a:rPr>
              <a:t> Shrestha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30143-1617-4BA9-13DE-BA348D26574F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Project UI/UX – Wireframe </a:t>
            </a:r>
            <a:r>
              <a:rPr lang="en-AU" sz="2400" b="0" dirty="0" err="1">
                <a:solidFill>
                  <a:srgbClr val="FFFFFF"/>
                </a:solidFill>
                <a:latin typeface="Manrope"/>
              </a:rPr>
              <a:t>Cont</a:t>
            </a:r>
            <a:r>
              <a:rPr lang="en-AU" sz="2400" b="0" dirty="0">
                <a:solidFill>
                  <a:srgbClr val="FFFFFF"/>
                </a:solidFill>
                <a:latin typeface="Manrope"/>
              </a:rPr>
              <a:t>…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1CF796A6-5E8A-38AA-62F0-CED40F96B716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663DDF29-8A99-E2B7-7A88-542A87D063A7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CAFB37-E4CC-C4AB-F2FC-78A277E15FB4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Explainability &amp; Evaluation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37FC73-E766-66A6-8E2D-052E232AC84D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4.5.3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E5D4D4-B232-409C-F531-EF28E7D4CC8C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17 / 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95B242-D94C-2383-8CE7-D6C2233DD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048" y="1405299"/>
            <a:ext cx="7821598" cy="503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45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218F6-D378-B014-E83D-2714DC8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5808F4-4408-4559-751E-998C8A385EA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C99211-A844-9E20-6DE8-01B090C92632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FD6819-E2C9-BB4F-138F-ED9DE5B26235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C4FBD1-8B02-F9A2-0485-F3AB4C63C222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IT LOOKS LIKE · 4.5.3 T2 REFINEMENTS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C481F9-6B4D-53EB-7E63-2355DF604F13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</a:t>
            </a:r>
            <a:r>
              <a:rPr lang="en-AU" sz="1100" dirty="0" err="1">
                <a:solidFill>
                  <a:srgbClr val="CFE3EA"/>
                </a:solidFill>
                <a:latin typeface="IBM Plex Mono"/>
              </a:rPr>
              <a:t>Koshish</a:t>
            </a:r>
            <a:r>
              <a:rPr lang="en-AU" sz="1100" dirty="0">
                <a:solidFill>
                  <a:srgbClr val="CFE3EA"/>
                </a:solidFill>
                <a:latin typeface="IBM Plex Mono"/>
              </a:rPr>
              <a:t> Shrestha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4B13F4-D6D1-8E75-1C32-D840DF351AB6}"/>
              </a:ext>
            </a:extLst>
          </p:cNvPr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FFFFFF"/>
                </a:solidFill>
                <a:latin typeface="Manrope"/>
              </a:rPr>
              <a:t>Refined against client feedback, not redesigned from scratch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47310F8-650F-F1EE-4C24-FA91528F6A02}"/>
              </a:ext>
            </a:extLst>
          </p:cNvPr>
          <p:cNvSpPr/>
          <p:nvPr/>
        </p:nvSpPr>
        <p:spPr>
          <a:xfrm>
            <a:off x="685800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5E50A6-D702-8567-3B0E-29CF867BD4C7}"/>
              </a:ext>
            </a:extLst>
          </p:cNvPr>
          <p:cNvSpPr/>
          <p:nvPr/>
        </p:nvSpPr>
        <p:spPr>
          <a:xfrm>
            <a:off x="685800" y="1874519"/>
            <a:ext cx="3423818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ashboard.png">
            <a:extLst>
              <a:ext uri="{FF2B5EF4-FFF2-40B4-BE49-F238E27FC236}">
                <a16:creationId xmlns:a16="http://schemas.microsoft.com/office/drawing/2014/main" id="{5B40DED0-4B2C-53B2-4F85-6AC2F6DDA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201" y="2020823"/>
            <a:ext cx="3009016" cy="13624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C1B8971-3494-15BD-414D-23136C4D3B1C}"/>
              </a:ext>
            </a:extLst>
          </p:cNvPr>
          <p:cNvSpPr txBox="1"/>
          <p:nvPr/>
        </p:nvSpPr>
        <p:spPr>
          <a:xfrm>
            <a:off x="777240" y="3474718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Institution-wide dashboard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2311A2B-7EA2-6D1C-89E4-A5FFFD57BF40}"/>
              </a:ext>
            </a:extLst>
          </p:cNvPr>
          <p:cNvSpPr/>
          <p:nvPr/>
        </p:nvSpPr>
        <p:spPr>
          <a:xfrm>
            <a:off x="4383938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38FC5-7FF7-9046-B4F9-4269BA83DADC}"/>
              </a:ext>
            </a:extLst>
          </p:cNvPr>
          <p:cNvSpPr/>
          <p:nvPr/>
        </p:nvSpPr>
        <p:spPr>
          <a:xfrm>
            <a:off x="4383938" y="1874519"/>
            <a:ext cx="342381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risk_analytics.png">
            <a:extLst>
              <a:ext uri="{FF2B5EF4-FFF2-40B4-BE49-F238E27FC236}">
                <a16:creationId xmlns:a16="http://schemas.microsoft.com/office/drawing/2014/main" id="{B67BEB00-243C-4EEB-D180-F23B87182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543" y="2020823"/>
            <a:ext cx="2978608" cy="136245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765919B-F6D8-A73A-9A1A-92A9EF6AC940}"/>
              </a:ext>
            </a:extLst>
          </p:cNvPr>
          <p:cNvSpPr txBox="1"/>
          <p:nvPr/>
        </p:nvSpPr>
        <p:spPr>
          <a:xfrm>
            <a:off x="4475378" y="3474718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Students at-risk analytics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792A589-1F90-D373-0782-9E26B798D122}"/>
              </a:ext>
            </a:extLst>
          </p:cNvPr>
          <p:cNvSpPr/>
          <p:nvPr/>
        </p:nvSpPr>
        <p:spPr>
          <a:xfrm>
            <a:off x="8082076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BF36AA-3675-8861-118B-5D22566F2D6B}"/>
              </a:ext>
            </a:extLst>
          </p:cNvPr>
          <p:cNvSpPr/>
          <p:nvPr/>
        </p:nvSpPr>
        <p:spPr>
          <a:xfrm>
            <a:off x="8082076" y="1874519"/>
            <a:ext cx="3423818" cy="54864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predictive_report.png">
            <a:extLst>
              <a:ext uri="{FF2B5EF4-FFF2-40B4-BE49-F238E27FC236}">
                <a16:creationId xmlns:a16="http://schemas.microsoft.com/office/drawing/2014/main" id="{D488C4BD-8BCC-8547-D454-A9C42C535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760" y="2020823"/>
            <a:ext cx="3026449" cy="136245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2D91D13-E818-50A2-D91D-13DE048B18EF}"/>
              </a:ext>
            </a:extLst>
          </p:cNvPr>
          <p:cNvSpPr txBox="1"/>
          <p:nvPr/>
        </p:nvSpPr>
        <p:spPr>
          <a:xfrm>
            <a:off x="8173516" y="3474718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Student-wise predictive report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31493CE-BDDE-0120-34AE-0B7D31598A89}"/>
              </a:ext>
            </a:extLst>
          </p:cNvPr>
          <p:cNvSpPr/>
          <p:nvPr/>
        </p:nvSpPr>
        <p:spPr>
          <a:xfrm>
            <a:off x="685800" y="3931918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FDFB0A-0F4B-C0A4-7B1B-45DEB6BCCEDA}"/>
              </a:ext>
            </a:extLst>
          </p:cNvPr>
          <p:cNvSpPr/>
          <p:nvPr/>
        </p:nvSpPr>
        <p:spPr>
          <a:xfrm>
            <a:off x="685800" y="3931918"/>
            <a:ext cx="3423818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ai_insights.png">
            <a:extLst>
              <a:ext uri="{FF2B5EF4-FFF2-40B4-BE49-F238E27FC236}">
                <a16:creationId xmlns:a16="http://schemas.microsoft.com/office/drawing/2014/main" id="{47051895-B73E-0C89-4633-CFAED25BE3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383" y="4078222"/>
            <a:ext cx="2998652" cy="136245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D27EDA0-64AD-2798-6D11-907D10179DBA}"/>
              </a:ext>
            </a:extLst>
          </p:cNvPr>
          <p:cNvSpPr txBox="1"/>
          <p:nvPr/>
        </p:nvSpPr>
        <p:spPr>
          <a:xfrm>
            <a:off x="777240" y="5532117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Student-wise AI insights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BD7487D-250D-A4E6-57EC-7F27B87B8923}"/>
              </a:ext>
            </a:extLst>
          </p:cNvPr>
          <p:cNvSpPr/>
          <p:nvPr/>
        </p:nvSpPr>
        <p:spPr>
          <a:xfrm>
            <a:off x="4383938" y="3931918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D4AA9A-DA82-9A33-61C4-B4BEC0A20243}"/>
              </a:ext>
            </a:extLst>
          </p:cNvPr>
          <p:cNvSpPr/>
          <p:nvPr/>
        </p:nvSpPr>
        <p:spPr>
          <a:xfrm>
            <a:off x="4383938" y="3931918"/>
            <a:ext cx="3423818" cy="54864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login.png">
            <a:extLst>
              <a:ext uri="{FF2B5EF4-FFF2-40B4-BE49-F238E27FC236}">
                <a16:creationId xmlns:a16="http://schemas.microsoft.com/office/drawing/2014/main" id="{8613C277-C13C-670E-A12D-DC617D55BA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1339" y="4078222"/>
            <a:ext cx="3009016" cy="1362455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63E737B-9610-2216-A84A-28F182D56063}"/>
              </a:ext>
            </a:extLst>
          </p:cNvPr>
          <p:cNvSpPr txBox="1"/>
          <p:nvPr/>
        </p:nvSpPr>
        <p:spPr>
          <a:xfrm>
            <a:off x="4475378" y="5532117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Login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EC881C9-8C8D-27F6-899F-C99871243FFA}"/>
              </a:ext>
            </a:extLst>
          </p:cNvPr>
          <p:cNvSpPr/>
          <p:nvPr/>
        </p:nvSpPr>
        <p:spPr>
          <a:xfrm>
            <a:off x="8082076" y="3931918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1E963D-E002-B78D-2733-BCCE43F02819}"/>
              </a:ext>
            </a:extLst>
          </p:cNvPr>
          <p:cNvSpPr/>
          <p:nvPr/>
        </p:nvSpPr>
        <p:spPr>
          <a:xfrm>
            <a:off x="8082076" y="3931918"/>
            <a:ext cx="3423818" cy="54864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api_console.png">
            <a:extLst>
              <a:ext uri="{FF2B5EF4-FFF2-40B4-BE49-F238E27FC236}">
                <a16:creationId xmlns:a16="http://schemas.microsoft.com/office/drawing/2014/main" id="{0F3F1B48-C3A4-3A2D-E60F-F2379A21DF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1250" y="4078222"/>
            <a:ext cx="2985471" cy="136245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8E0946C-FA7B-2406-A3FC-4521302F300F}"/>
              </a:ext>
            </a:extLst>
          </p:cNvPr>
          <p:cNvSpPr txBox="1"/>
          <p:nvPr/>
        </p:nvSpPr>
        <p:spPr>
          <a:xfrm>
            <a:off x="8173516" y="5532117"/>
            <a:ext cx="324093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B95A1"/>
                </a:solidFill>
                <a:latin typeface="IBM Plex Mono"/>
              </a:rPr>
              <a:t>API console</a:t>
            </a:r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3FC9BA46-08EE-99FA-DF5C-68D9B0E0B1F8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3C777-E7E0-AEE8-F13F-13B24502324F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C9CB1F-7091-F2D9-A426-949016DA75A5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Explainability &amp; Evaluation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16AA6E-4D94-1A89-4132-1B10DBE96DBE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4.5.3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E46D74-FDF1-C606-6E17-64B5BCED589D}"/>
              </a:ext>
            </a:extLst>
          </p:cNvPr>
          <p:cNvSpPr txBox="1"/>
          <p:nvPr/>
        </p:nvSpPr>
        <p:spPr>
          <a:xfrm>
            <a:off x="10500055" y="6519672"/>
            <a:ext cx="10058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dirty="0">
                <a:solidFill>
                  <a:srgbClr val="8B95A1"/>
                </a:solidFill>
                <a:latin typeface="IBM Plex Mono"/>
              </a:rPr>
              <a:t>17 </a:t>
            </a:r>
            <a:r>
              <a:rPr lang="en-AU" sz="1050" b="0" dirty="0">
                <a:solidFill>
                  <a:srgbClr val="8B95A1"/>
                </a:solidFill>
                <a:latin typeface="IBM Plex Mono"/>
              </a:rPr>
              <a:t>`</a:t>
            </a:r>
            <a:endParaRPr sz="1050" b="0" dirty="0">
              <a:solidFill>
                <a:srgbClr val="8B95A1"/>
              </a:solidFill>
              <a:latin typeface="IBM Plex Mono"/>
            </a:endParaRPr>
          </a:p>
        </p:txBody>
      </p:sp>
    </p:spTree>
    <p:extLst>
      <p:ext uri="{BB962C8B-B14F-4D97-AF65-F5344CB8AC3E}">
        <p14:creationId xmlns:p14="http://schemas.microsoft.com/office/powerpoint/2010/main" val="4145120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3F2BE-6190-9CBB-974C-F49F07251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C8285F-4B51-B627-A10A-7DB788CC60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32E27E-3F12-DFCE-54A6-0828FC4445FE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8C1971-6B59-4088-72EF-90147496746C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11F1F-A2C6-966F-288E-3C7728B7B937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IT LOOKS LIKE · 4.5.3 T2 REFINEMENTS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5783AE-36ED-085B-1913-8D66D6F39F8A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</a:t>
            </a:r>
            <a:r>
              <a:rPr lang="en-AU" sz="1100" dirty="0" err="1">
                <a:solidFill>
                  <a:srgbClr val="CFE3EA"/>
                </a:solidFill>
                <a:latin typeface="IBM Plex Mono"/>
              </a:rPr>
              <a:t>Koshish</a:t>
            </a:r>
            <a:r>
              <a:rPr lang="en-AU" sz="1100" dirty="0">
                <a:solidFill>
                  <a:srgbClr val="CFE3EA"/>
                </a:solidFill>
                <a:latin typeface="IBM Plex Mono"/>
              </a:rPr>
              <a:t> Shrestha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AB9FC-0361-9827-2236-0926225B3C5B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Additions UI Changes – Phase II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262F3C4-F75B-B2B9-224C-FEB0823A636F}"/>
              </a:ext>
            </a:extLst>
          </p:cNvPr>
          <p:cNvSpPr/>
          <p:nvPr/>
        </p:nvSpPr>
        <p:spPr>
          <a:xfrm>
            <a:off x="685800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85AD1C-C0B0-DBBD-5ED3-FDDBE95E9979}"/>
              </a:ext>
            </a:extLst>
          </p:cNvPr>
          <p:cNvSpPr/>
          <p:nvPr/>
        </p:nvSpPr>
        <p:spPr>
          <a:xfrm>
            <a:off x="685800" y="1874519"/>
            <a:ext cx="3423818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3BF392-643E-8FD6-98F2-8287ECEEDA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50098" y="2001990"/>
            <a:ext cx="2695221" cy="14087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43B0AF-C121-0749-9A46-D5A807AFC697}"/>
              </a:ext>
            </a:extLst>
          </p:cNvPr>
          <p:cNvSpPr txBox="1"/>
          <p:nvPr/>
        </p:nvSpPr>
        <p:spPr>
          <a:xfrm>
            <a:off x="777240" y="3474718"/>
            <a:ext cx="324093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000" dirty="0" err="1">
                <a:solidFill>
                  <a:srgbClr val="8B95A1"/>
                </a:solidFill>
                <a:latin typeface="IBM Plex Mono"/>
              </a:rPr>
              <a:t>oAuth</a:t>
            </a:r>
            <a:r>
              <a:rPr lang="en-AU" sz="1000" dirty="0">
                <a:solidFill>
                  <a:srgbClr val="8B95A1"/>
                </a:solidFill>
                <a:latin typeface="IBM Plex Mono"/>
              </a:rPr>
              <a:t> Configurations</a:t>
            </a:r>
            <a:endParaRPr sz="1000" b="0" dirty="0">
              <a:solidFill>
                <a:srgbClr val="8B95A1"/>
              </a:solidFill>
              <a:latin typeface="IBM Plex Mono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75CD3F-8E4B-20B7-6260-3B4787E49F9D}"/>
              </a:ext>
            </a:extLst>
          </p:cNvPr>
          <p:cNvSpPr/>
          <p:nvPr/>
        </p:nvSpPr>
        <p:spPr>
          <a:xfrm>
            <a:off x="4383938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FF45D-D3BE-D032-8740-66E3B656EF6B}"/>
              </a:ext>
            </a:extLst>
          </p:cNvPr>
          <p:cNvSpPr/>
          <p:nvPr/>
        </p:nvSpPr>
        <p:spPr>
          <a:xfrm>
            <a:off x="4383938" y="1874519"/>
            <a:ext cx="342381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2C559D1-DA7C-7055-089C-8AE7F173F9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74155" y="2020823"/>
            <a:ext cx="2843384" cy="136245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CB404-1370-F51C-17D6-A4D6D9391C3A}"/>
              </a:ext>
            </a:extLst>
          </p:cNvPr>
          <p:cNvSpPr txBox="1"/>
          <p:nvPr/>
        </p:nvSpPr>
        <p:spPr>
          <a:xfrm>
            <a:off x="4475378" y="3474718"/>
            <a:ext cx="324093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000" b="0" dirty="0">
                <a:solidFill>
                  <a:srgbClr val="8B95A1"/>
                </a:solidFill>
                <a:latin typeface="IBM Plex Mono"/>
              </a:rPr>
              <a:t>AI Configs</a:t>
            </a:r>
            <a:endParaRPr sz="1000" b="0" dirty="0">
              <a:solidFill>
                <a:srgbClr val="8B95A1"/>
              </a:solidFill>
              <a:latin typeface="IBM Plex Mono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5813B7-2B3C-F167-D425-6B3EC2428B29}"/>
              </a:ext>
            </a:extLst>
          </p:cNvPr>
          <p:cNvSpPr/>
          <p:nvPr/>
        </p:nvSpPr>
        <p:spPr>
          <a:xfrm>
            <a:off x="8082076" y="1874519"/>
            <a:ext cx="3423818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E0E924-C8CC-188D-BE0B-A25D15FA9C41}"/>
              </a:ext>
            </a:extLst>
          </p:cNvPr>
          <p:cNvSpPr/>
          <p:nvPr/>
        </p:nvSpPr>
        <p:spPr>
          <a:xfrm>
            <a:off x="8082076" y="1874519"/>
            <a:ext cx="3423818" cy="54864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BE8C1EA-7F30-B8C4-186A-8EA8A0AF61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1283" y="2020823"/>
            <a:ext cx="3224242" cy="12147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20EF01B-DFA9-6A8C-2A24-9C4801884778}"/>
              </a:ext>
            </a:extLst>
          </p:cNvPr>
          <p:cNvSpPr txBox="1"/>
          <p:nvPr/>
        </p:nvSpPr>
        <p:spPr>
          <a:xfrm>
            <a:off x="8173516" y="3474718"/>
            <a:ext cx="324093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000" b="0" dirty="0">
                <a:solidFill>
                  <a:srgbClr val="8B95A1"/>
                </a:solidFill>
                <a:latin typeface="IBM Plex Mono"/>
              </a:rPr>
              <a:t>Outgoing mail servers</a:t>
            </a:r>
            <a:endParaRPr sz="1000" b="0" dirty="0">
              <a:solidFill>
                <a:srgbClr val="8B95A1"/>
              </a:solidFill>
              <a:latin typeface="IBM Plex Mono"/>
            </a:endParaRPr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35FA2EAA-F824-55D3-D5B6-03FDD19076FF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F16C68C-79A6-79AF-DCDC-980DF1140E34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0D692-4D2B-FAD8-9AAB-A22342F15A32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Explainability &amp; Evaluation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ADC0ED-699D-110B-CABB-076A31240A99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4.5.3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12B3AD-852E-C6AE-460E-86CB15B94961}"/>
              </a:ext>
            </a:extLst>
          </p:cNvPr>
          <p:cNvSpPr txBox="1"/>
          <p:nvPr/>
        </p:nvSpPr>
        <p:spPr>
          <a:xfrm>
            <a:off x="10500055" y="6519672"/>
            <a:ext cx="10058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dirty="0">
                <a:solidFill>
                  <a:srgbClr val="8B95A1"/>
                </a:solidFill>
                <a:latin typeface="IBM Plex Mono"/>
              </a:rPr>
              <a:t>17 </a:t>
            </a:r>
            <a:r>
              <a:rPr lang="en-AU" sz="1050" b="0" dirty="0">
                <a:solidFill>
                  <a:srgbClr val="8B95A1"/>
                </a:solidFill>
                <a:latin typeface="IBM Plex Mono"/>
              </a:rPr>
              <a:t>`</a:t>
            </a:r>
            <a:endParaRPr sz="1050" b="0" dirty="0">
              <a:solidFill>
                <a:srgbClr val="8B95A1"/>
              </a:solidFill>
              <a:latin typeface="IBM Plex Mono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0AB1C449-EB7B-01FD-4AA7-929119C76A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0773" y="3880073"/>
            <a:ext cx="8930148" cy="237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43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PREDICTIVE ANALYTICS ·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FFFFFF"/>
                </a:solidFill>
                <a:latin typeface="Manrope"/>
              </a:rPr>
              <a:t>Two models, because a term in progress isn't a finished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55F6B"/>
                </a:solidFill>
                <a:latin typeface="Manrope"/>
              </a:rPr>
              <a:t>Complete-record model — 65,903 finished enrolments, 124 subjects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10820095" cy="292608"/>
          </a:xfrm>
          <a:prstGeom prst="roundRect">
            <a:avLst>
              <a:gd name="adj" fmla="val 4500"/>
            </a:avLst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Manrope"/>
              </a:rPr>
              <a:t>Mid-term model — trained on truncated snapshots (illustrative)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10820095" cy="29260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3246120"/>
            <a:ext cx="4544440" cy="292608"/>
          </a:xfrm>
          <a:prstGeom prst="roundRect">
            <a:avLst>
              <a:gd name="adj" fmla="val 45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55F6B"/>
                </a:solidFill>
                <a:latin typeface="Manrope"/>
              </a:rPr>
              <a:t>Feeding partial data to the complete-record model first hit 100% training accuracy — a textbook sign of leakage, not skill. Hence a second model, trained only on what a mid-term snapshot actually contains.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5.5.1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13 / 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308BADE-8FD4-0E65-9995-2CEEB0323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73" y="4610962"/>
            <a:ext cx="9388654" cy="150127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AD2D-153B-5C50-21BA-E01A948E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F7C90D-E4E7-2EDE-0A29-456D25ED114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D788B9-1B5F-FDCE-1D42-35D580B3E202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1B171C-2764-EF96-453A-F700AD84AAE3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79C96C-DEA8-B409-74D8-C24F0BF52BBC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PREDICTIVE ANALYTICS ·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8B9E51-21B0-E1D2-621E-9A797D3E3289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58F76-43EE-2245-3699-6F5D78659C05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Students at Risk – Determination by Mid Term Model/Complete Model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6DAFC5D7-10A6-36E6-C4BF-BCBA86BE8D0F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A26D9FD-6A43-02FB-4CE4-7EC00741942A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35095-DEF3-78B5-D00A-0883FC81805A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41F83-71C1-BA3E-47FE-05E1FF3229EB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5.5.1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9E69B8-4BE0-A5B2-3B11-2963E4E1B0E3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13 / 26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B3B8549-A67F-0BC8-F465-F6720B2E9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836" y="1502356"/>
            <a:ext cx="7037144" cy="485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0475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Machine Learning Pipeline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32" name="Graphic 3">
            <a:extLst>
              <a:ext uri="{FF2B5EF4-FFF2-40B4-BE49-F238E27FC236}">
                <a16:creationId xmlns:a16="http://schemas.microsoft.com/office/drawing/2014/main" id="{4FBB2F42-183F-48B1-7C91-914B31411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01" b="-294"/>
          <a:stretch>
            <a:fillRect/>
          </a:stretch>
        </p:blipFill>
        <p:spPr>
          <a:xfrm>
            <a:off x="3716792" y="613237"/>
            <a:ext cx="4453615" cy="594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CHOOSING THE ALGORITHM · MODEL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Two algorithms, chosen to disagree usefully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181448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4864" cy="1965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313432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ightning Bolt 10"/>
          <p:cNvSpPr/>
          <p:nvPr/>
        </p:nvSpPr>
        <p:spPr>
          <a:xfrm>
            <a:off x="1069848" y="2441448"/>
            <a:ext cx="201168" cy="201168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81912" y="2286000"/>
            <a:ext cx="4029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  <a:latin typeface="IBM Plex Mono"/>
              </a:rPr>
              <a:t>GRADIENT BOOSTING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523744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898648"/>
            <a:ext cx="4669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Builds hundreds of shallow decision rules in sequence, where each new rule is built specifically to correct the mistakes of the ones before it — good at picking up subtle, non-linear patterns in a student's record.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8" y="2057400"/>
            <a:ext cx="5181448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4448" y="2057400"/>
            <a:ext cx="54864" cy="196596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580480" y="231343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loud 17"/>
          <p:cNvSpPr/>
          <p:nvPr/>
        </p:nvSpPr>
        <p:spPr>
          <a:xfrm>
            <a:off x="6708496" y="2441448"/>
            <a:ext cx="201168" cy="201168"/>
          </a:xfrm>
          <a:prstGeom prst="clou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20560" y="2286000"/>
            <a:ext cx="4029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A57F"/>
                </a:solidFill>
                <a:latin typeface="IBM Plex Mono"/>
              </a:rPr>
              <a:t>BAGGING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0560" y="2523744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0480" y="2898648"/>
            <a:ext cx="4669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Builds hundreds of independent decision trees, each trained on a different random slice of the data, then takes a majority vote — good at staying stable and not overreacting to one unusual student.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20095" cy="1691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4160520"/>
            <a:ext cx="54864" cy="169164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1832" y="4416552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" y="44165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389120"/>
            <a:ext cx="9667951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WHY BOTH, NOT JUST ONE — TESTED, NOT ASSUMED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26864"/>
            <a:ext cx="96679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Soft-voting the two together catches 3.5pp more real fail cases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5001768"/>
            <a:ext cx="10308031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Tested head-to-head against a single XGBoost model: near-identical overall accuracy, but the two-model ensemble correctly identifies 3.5 percentage points more of the students who actually go on to fail — confirmed twice, on two independent time periods. For an early-warning tool, catching more real at-risk students outweighs a small precision trade-off.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5A1"/>
                </a:solidFill>
                <a:latin typeface="Manrope"/>
              </a:rPr>
              <a:t>Both also guard against the pass/fail class imbalance from two independent angles: SMOTE before training, and Random Forest's own balanced class weighting during it.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14CB-866D-7E37-CE68-1CFDEA0A2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CA211A-EBA2-7F5C-B998-71D956B7495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5C1EF3-5084-7E50-EC80-CE2094011959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F8ADAB-7032-3146-075B-9159199CD0A6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FBB21C-6737-8809-3DF2-B303F09D4FFE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PREDICTIVE ANALYTICS ·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5C43BF-BAC6-368E-8DE6-1D832BFB50B2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DFA75D-59A9-00EA-F2C5-F620FC840FDA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Students at Risk – Determination by Mid Term Model/Complete Model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18BDA7BB-057D-5B00-B790-19C54DA3B10D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C854E8E-6294-A6F3-A6E8-4D30FF24DB15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27CE2F-3791-F915-52ED-606BE2DD8B68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8DA638-E787-3358-AF14-14ABD1CF3ED2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5.5.1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2ADB4C-41E0-A972-ACAD-F3797776D494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13 / 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30A224-338E-6E9D-1B52-224D4998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1" y="1526224"/>
            <a:ext cx="10323871" cy="47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98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72821-8E0E-407F-0200-08C1B17E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D27F50-10F3-ADA1-A484-D3EB24710B9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A82D4D-0910-0B1C-92B1-51E2067CCD89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78F52C-777B-4A68-0B30-2DCE1F23F230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5A44B8-E3F4-AAAA-30D6-FFF05823D612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PREDICTIVE ANALYTICS ·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1ECD6-C7C9-83A8-3D1F-AFBC72103492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4A685-4F66-F64C-7CBC-98801107C636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Students at Risk – Determination by Mid Term Model/Complete Model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7740BC49-42D7-E224-BC9C-7382EACD3B13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EFACC0B-9B65-201F-886C-FAF8E32AFD91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9A83D1-4790-53E4-8694-1EFA188973A5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BF3D6B-33B7-CAA4-0800-5A6CA548C67C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5.5.1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DE25EA-F94C-6FE9-A768-455B49FD4951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13 / 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3DB03D-DBC8-4035-AEE7-05C3216B1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14" y="1452192"/>
            <a:ext cx="10800822" cy="491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670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D4872-B07B-886B-06CB-EF82D1E17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0D54A0-2EF6-F65E-83A6-78B8721AD41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865FCB-6303-416C-F522-868C54B44ADA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7825F-B92E-1087-C49C-FA91A2967A02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1EB98B-BC8C-F4C0-681B-68510C88441C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3B91F-4C3D-01C6-0528-3DE2C72F746C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</a:t>
            </a:r>
            <a:r>
              <a:rPr lang="en-AU" sz="2400" dirty="0">
                <a:solidFill>
                  <a:srgbClr val="FFFFFF"/>
                </a:solidFill>
                <a:latin typeface="Manrope"/>
              </a:rPr>
              <a:t>Prediction Sequence Diagram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2904EBEC-4308-043A-CDFD-E76FE08B572E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1720B82-78E1-7F7C-80CF-324A4AA2F99F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84D187-0971-0832-4A03-74739C12E7D5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7A19A0-4C4A-0D21-FD6A-450C419C16CA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B03BD5-C93B-4B98-03AE-1A7035C7ECC4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4" name="Graphic 7">
            <a:extLst>
              <a:ext uri="{FF2B5EF4-FFF2-40B4-BE49-F238E27FC236}">
                <a16:creationId xmlns:a16="http://schemas.microsoft.com/office/drawing/2014/main" id="{DA168DCB-9CF8-A464-EB1C-2AF0D5C0FB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3645" y="538217"/>
            <a:ext cx="4884403" cy="594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C83F1-8EF9-6BD3-65EC-7D33520E9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2DF478-65DD-BAA6-5B12-85880794852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8545B4-783D-D465-BB7D-E5B57A7BCF0C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13D8AD-12E5-1E24-7CE2-044111D41567}"/>
              </a:ext>
            </a:extLst>
          </p:cNvPr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76F789-19A4-FDCD-4BAC-A0E4B546408D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 7.4.1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8C6262-9356-620C-2F4A-8652DF1024EE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Sangam Ghale Gurung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3CC1C8-2118-EB61-E4E2-D1DA576E0A54}"/>
              </a:ext>
            </a:extLst>
          </p:cNvPr>
          <p:cNvSpPr txBox="1"/>
          <p:nvPr/>
        </p:nvSpPr>
        <p:spPr>
          <a:xfrm>
            <a:off x="685800" y="603504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A</a:t>
            </a:r>
            <a:r>
              <a:rPr sz="2400" b="0" dirty="0" err="1">
                <a:solidFill>
                  <a:srgbClr val="FFFFFF"/>
                </a:solidFill>
                <a:latin typeface="Manrope"/>
              </a:rPr>
              <a:t>ccuracy</a:t>
            </a:r>
            <a:r>
              <a:rPr sz="2400" b="0" dirty="0">
                <a:solidFill>
                  <a:srgbClr val="FFFFFF"/>
                </a:solidFill>
                <a:latin typeface="Manrope"/>
              </a:rPr>
              <a:t> isn't the number that matters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CEE3AE-2A28-B28F-199E-4E6A72FCEBFA}"/>
              </a:ext>
            </a:extLst>
          </p:cNvPr>
          <p:cNvSpPr txBox="1"/>
          <p:nvPr/>
        </p:nvSpPr>
        <p:spPr>
          <a:xfrm>
            <a:off x="685800" y="277063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Precision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034D752-673C-AEF0-4DCD-A597F7BB45FC}"/>
              </a:ext>
            </a:extLst>
          </p:cNvPr>
          <p:cNvSpPr/>
          <p:nvPr/>
        </p:nvSpPr>
        <p:spPr>
          <a:xfrm>
            <a:off x="2926080" y="2788920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E154E4E-A8E9-55A2-B636-7035DDEB80B6}"/>
              </a:ext>
            </a:extLst>
          </p:cNvPr>
          <p:cNvSpPr/>
          <p:nvPr/>
        </p:nvSpPr>
        <p:spPr>
          <a:xfrm>
            <a:off x="2926080" y="2788920"/>
            <a:ext cx="6042418" cy="109728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AC4DFD-B603-7698-9442-0E4E4904B3A6}"/>
              </a:ext>
            </a:extLst>
          </p:cNvPr>
          <p:cNvSpPr txBox="1"/>
          <p:nvPr/>
        </p:nvSpPr>
        <p:spPr>
          <a:xfrm>
            <a:off x="10682935" y="273405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.7931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C6FEA2-C7D5-7E96-EED9-89AFFD64D9AB}"/>
              </a:ext>
            </a:extLst>
          </p:cNvPr>
          <p:cNvSpPr txBox="1"/>
          <p:nvPr/>
        </p:nvSpPr>
        <p:spPr>
          <a:xfrm>
            <a:off x="685800" y="33375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Recall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4CA170-B5EE-CEAF-C0F3-70C61C5508BA}"/>
              </a:ext>
            </a:extLst>
          </p:cNvPr>
          <p:cNvSpPr/>
          <p:nvPr/>
        </p:nvSpPr>
        <p:spPr>
          <a:xfrm>
            <a:off x="2926080" y="3355848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7049799-7263-2BC0-9982-660566B1DEA4}"/>
              </a:ext>
            </a:extLst>
          </p:cNvPr>
          <p:cNvSpPr/>
          <p:nvPr/>
        </p:nvSpPr>
        <p:spPr>
          <a:xfrm>
            <a:off x="2926080" y="3355848"/>
            <a:ext cx="5950982" cy="109728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FFF2EC-C73D-5EE0-B25B-DA060842CCFD}"/>
              </a:ext>
            </a:extLst>
          </p:cNvPr>
          <p:cNvSpPr txBox="1"/>
          <p:nvPr/>
        </p:nvSpPr>
        <p:spPr>
          <a:xfrm>
            <a:off x="10682935" y="330098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.7809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31228B-DA6B-2C5D-7511-B8D569E21D70}"/>
              </a:ext>
            </a:extLst>
          </p:cNvPr>
          <p:cNvSpPr txBox="1"/>
          <p:nvPr/>
        </p:nvSpPr>
        <p:spPr>
          <a:xfrm>
            <a:off x="685800" y="390448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F1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20F35F0-EC0A-26AD-168A-D2D52400BDFA}"/>
              </a:ext>
            </a:extLst>
          </p:cNvPr>
          <p:cNvSpPr/>
          <p:nvPr/>
        </p:nvSpPr>
        <p:spPr>
          <a:xfrm>
            <a:off x="2926080" y="3922776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B7E9E1E-34D2-CE48-AFC9-3EE8AF08A496}"/>
              </a:ext>
            </a:extLst>
          </p:cNvPr>
          <p:cNvSpPr/>
          <p:nvPr/>
        </p:nvSpPr>
        <p:spPr>
          <a:xfrm>
            <a:off x="2926080" y="3922776"/>
            <a:ext cx="5996700" cy="109728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7BBFF-EB57-8859-BC8A-CDD8168D5765}"/>
              </a:ext>
            </a:extLst>
          </p:cNvPr>
          <p:cNvSpPr txBox="1"/>
          <p:nvPr/>
        </p:nvSpPr>
        <p:spPr>
          <a:xfrm>
            <a:off x="10682935" y="386791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.7869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7EC266-6CF8-D4BA-CFFD-5933F329BE6D}"/>
              </a:ext>
            </a:extLst>
          </p:cNvPr>
          <p:cNvSpPr txBox="1"/>
          <p:nvPr/>
        </p:nvSpPr>
        <p:spPr>
          <a:xfrm>
            <a:off x="685800" y="44714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PR-AUC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D7B244C-43EA-ADB0-75B6-2153F8605D6E}"/>
              </a:ext>
            </a:extLst>
          </p:cNvPr>
          <p:cNvSpPr/>
          <p:nvPr/>
        </p:nvSpPr>
        <p:spPr>
          <a:xfrm>
            <a:off x="2926080" y="4489704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44CDEBD-CF06-6FB7-E4D6-F3F508A9B077}"/>
              </a:ext>
            </a:extLst>
          </p:cNvPr>
          <p:cNvSpPr/>
          <p:nvPr/>
        </p:nvSpPr>
        <p:spPr>
          <a:xfrm>
            <a:off x="2926080" y="4489704"/>
            <a:ext cx="6712951" cy="109728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960FE3-9233-11A6-E305-53ECF9121082}"/>
              </a:ext>
            </a:extLst>
          </p:cNvPr>
          <p:cNvSpPr txBox="1"/>
          <p:nvPr/>
        </p:nvSpPr>
        <p:spPr>
          <a:xfrm>
            <a:off x="10682935" y="4434840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.8808</a:t>
            </a: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59B24706-A0E2-465B-7DA9-5B992288D720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B66927AB-F70B-57D1-3BC6-4B9D4ADFF3AE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084F2B-F35F-EC92-8BF0-76926D94F5B6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2CCBD5-D402-F028-09E9-59361ABA3E34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2AB444-AED8-0617-4993-5CF7875A402F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3924921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TALKING TO THE OUTSIDE WORLD · 5.8–5.9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Integrations &amp; the API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3362858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65960"/>
            <a:ext cx="54864" cy="35661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221992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ightning Bolt 10"/>
          <p:cNvSpPr/>
          <p:nvPr/>
        </p:nvSpPr>
        <p:spPr>
          <a:xfrm>
            <a:off x="1069848" y="2350008"/>
            <a:ext cx="201168" cy="201168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81912" y="219456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  <a:latin typeface="IBM Plex Mono"/>
              </a:rPr>
              <a:t>AI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3230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Gemini, Anthropic, 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807208"/>
            <a:ext cx="285079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Configured at runtime through one dispatch function — no redeploy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4418" y="1965960"/>
            <a:ext cx="3362858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14418" y="1965960"/>
            <a:ext cx="54864" cy="356616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670450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70450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0530" y="219456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E6E8E"/>
                </a:solidFill>
                <a:latin typeface="IBM Plex Mono"/>
              </a:rPr>
              <a:t>OUTGOING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0530" y="243230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SMTP + templated 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0450" y="2807208"/>
            <a:ext cx="285079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Credentials encrypted at rest. Every send logged as sent or failed, never falsely delivered.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036" y="1965960"/>
            <a:ext cx="3362858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43036" y="1965960"/>
            <a:ext cx="54864" cy="3566160"/>
          </a:xfrm>
          <a:prstGeom prst="rect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399068" y="2221992"/>
            <a:ext cx="457200" cy="4572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Gear 6 24"/>
          <p:cNvSpPr/>
          <p:nvPr/>
        </p:nvSpPr>
        <p:spPr>
          <a:xfrm>
            <a:off x="8527084" y="2350008"/>
            <a:ext cx="201168" cy="201168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39148" y="2194560"/>
            <a:ext cx="221071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1455C"/>
                </a:solidFill>
                <a:latin typeface="IBM Plex Mono"/>
              </a:rPr>
              <a:t>REST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9148" y="2432304"/>
            <a:ext cx="22107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FastAPI, self-documenting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9068" y="2807208"/>
            <a:ext cx="285079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F6B"/>
                </a:solidFill>
                <a:latin typeface="Manrope"/>
              </a:rPr>
              <a:t>Every capability is a versioned endpoint with auto-generated OpenAPI docs.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5.8–5.9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15 / 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DE76-6C91-AF9B-E8B0-D95F8E69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E30E9E-5480-C323-D414-3A4167E81A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54748B-EDC2-50A5-2AE0-72D524F58AAC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88A95-57CC-D04D-398C-E042E83576F6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234E7-397E-BD01-4509-B02295C39D12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968FE0-3CBD-C642-CDFE-C5F7D0B534D5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</a:t>
            </a:r>
            <a:r>
              <a:rPr lang="en-AU" sz="2400" dirty="0">
                <a:solidFill>
                  <a:srgbClr val="FFFFFF"/>
                </a:solidFill>
                <a:latin typeface="Manrope"/>
              </a:rPr>
              <a:t>AI Assistant Sequence Diagram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DD5F34C6-5E78-20C5-78D5-C3CE4B298A4F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12896498-950C-64EF-1905-EEC0D88A5FA2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276F67-1EFA-8563-87A3-BCC802E72A5C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516E89-3A86-BC4D-A717-BFC15117345E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D88E69-B0D8-1B36-7B2C-F9DD05E3BEB8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4" name="Graphic 4">
            <a:extLst>
              <a:ext uri="{FF2B5EF4-FFF2-40B4-BE49-F238E27FC236}">
                <a16:creationId xmlns:a16="http://schemas.microsoft.com/office/drawing/2014/main" id="{9A56DA6A-B923-2C71-1DB4-5B0B3F82C8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44568" y="731938"/>
            <a:ext cx="7102557" cy="5702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265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BC98-6108-BB02-A758-A2C269298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266BE4-461B-195D-5877-B27647F2403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C69B30-539D-DA65-12BE-D239FC4CE6D3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E075A-4329-952D-8938-9416359E4A2B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5E452-5F36-EDA6-F56A-434DC956CD19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04E406-9B99-EC5B-053B-9C9A6801A53B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</a:t>
            </a:r>
            <a:r>
              <a:rPr lang="en-AU" sz="2400" dirty="0">
                <a:solidFill>
                  <a:srgbClr val="FFFFFF"/>
                </a:solidFill>
                <a:latin typeface="Manrope"/>
              </a:rPr>
              <a:t>AI Assisted Insights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2A77986D-FF74-D22A-B1DB-9AD91D6D699C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2B9B487B-EB2B-EA67-4D31-5F15373FF284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DFEA6-305D-4EDE-5109-A771D307A345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9FF787-4985-9F79-A5E4-C7AE886A85D1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327575-603D-2772-FD83-708230752E11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B28A78A-FB4E-4720-B80E-DA62C087F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375" y="925612"/>
            <a:ext cx="6309856" cy="546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162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DD45-0411-905A-E9BC-39E4180B0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5D7D12-27DD-F663-D5E5-474B6A9655A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A41ABE-3D3D-D0A4-3FD3-B0BF81F1ED3C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4A0150-27C8-0774-C8C8-16D8F30E13CF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FA07D1-C1A4-4D95-C053-AC93453F8B3C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3996E9-03DD-40E9-179D-30F6588E3049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</a:t>
            </a:r>
            <a:r>
              <a:rPr lang="en-AU" sz="2400" dirty="0">
                <a:solidFill>
                  <a:srgbClr val="FFFFFF"/>
                </a:solidFill>
                <a:latin typeface="Manrope"/>
              </a:rPr>
              <a:t>AI Assistant Response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63E835BF-6EAC-7A6C-ADA6-24AD5A695871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ABFE7AF6-44E7-3851-9E60-9262673252C3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A424E8-0C29-5403-8DB7-CB404FF54394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88670E-50CC-234D-7167-BA3A12AAF3DD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B62897-6257-E7B6-DD17-1A593D06B7E5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282D7-5C89-5F17-86B8-4474AC6EC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684" y="975985"/>
            <a:ext cx="2988632" cy="53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937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C240F-47E9-FB1A-6804-F3211C761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231349-BD8A-70C2-55CE-7FE70905995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E98606-D765-B40C-511F-7C9BE10F8C7C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7E1D48-7BC3-C7AE-A39E-1AD631374250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CFE6A6-1EAC-44AF-AF3D-AFA149EF5881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6DCE15-ADEB-BABB-16E7-68D00F624BA1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Outgoing Email Work</a:t>
            </a:r>
            <a:r>
              <a:rPr lang="en-AU" sz="2400" dirty="0">
                <a:solidFill>
                  <a:srgbClr val="FFFFFF"/>
                </a:solidFill>
                <a:latin typeface="Manrope"/>
              </a:rPr>
              <a:t>flow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6B7AEA85-2244-4506-C33E-1E08EDBCBA38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CB080B-D290-A82D-749E-A8464B8BCA3E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CF2331-C7D9-2249-9601-FD44E1DFF376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E28DD6-5F55-4632-90F3-8247A3B5AB55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6B50D9-9F05-64C2-9FC8-0E2A905F14C2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8" name="Graphic 5">
            <a:extLst>
              <a:ext uri="{FF2B5EF4-FFF2-40B4-BE49-F238E27FC236}">
                <a16:creationId xmlns:a16="http://schemas.microsoft.com/office/drawing/2014/main" id="{E218A646-0190-B846-4747-DC28A67BE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4691" y="667377"/>
            <a:ext cx="3949372" cy="6190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1778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0CDF6-A76A-4742-7ACF-274EFDEBE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BC5449-6F64-182D-E54B-B718882B26A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FC9C22-52E5-F70F-33EF-6C3BD77EE98F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80AC54-9BAC-2A13-8CC3-E0CD486646DD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803070-FD27-2494-4689-7B98A128AF39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61AC62-CD83-D691-C999-7C9F292513B5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EDAPTv2 Deployment Diagram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9E9B60CA-D77B-7C19-7CCE-FBD82659A942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1289EEA1-EE7C-D1F9-3B6E-5D54DD55C017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9A3613-0A00-9D5D-14FF-933BC134BE7C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244C59-AF2C-EE42-5105-5ABAB415CBF0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5A7510-2639-6F41-2FB8-7202B124693F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pic>
        <p:nvPicPr>
          <p:cNvPr id="4" name="Graphic 6">
            <a:extLst>
              <a:ext uri="{FF2B5EF4-FFF2-40B4-BE49-F238E27FC236}">
                <a16:creationId xmlns:a16="http://schemas.microsoft.com/office/drawing/2014/main" id="{301529EF-67CF-408B-2894-AB47AAA6B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7244" y="1043146"/>
            <a:ext cx="8417205" cy="477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157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E6B14-9EF8-80AD-2004-03250D1C0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9D7F5D-BE1F-0BD0-4473-31A0956F334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66D59B-8266-C50F-BBDC-B035B334DD21}"/>
              </a:ext>
            </a:extLst>
          </p:cNvPr>
          <p:cNvSpPr/>
          <p:nvPr/>
        </p:nvSpPr>
        <p:spPr>
          <a:xfrm>
            <a:off x="0" y="0"/>
            <a:ext cx="12191695" cy="719953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4F39B2-C6FD-3BD1-1EBB-11F123644BF7}"/>
              </a:ext>
            </a:extLst>
          </p:cNvPr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MODEL PERFORMANCE 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103EF-2647-3A3E-0EA0-F174236BDA42}"/>
              </a:ext>
            </a:extLst>
          </p:cNvPr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Nitesh Bhatta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0C10F-EA17-CFE7-BEC4-56736F8BC7E5}"/>
              </a:ext>
            </a:extLst>
          </p:cNvPr>
          <p:cNvSpPr txBox="1"/>
          <p:nvPr/>
        </p:nvSpPr>
        <p:spPr>
          <a:xfrm>
            <a:off x="685800" y="347863"/>
            <a:ext cx="10820095" cy="37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400" b="0" dirty="0">
                <a:solidFill>
                  <a:srgbClr val="FFFFFF"/>
                </a:solidFill>
                <a:latin typeface="Manrope"/>
              </a:rPr>
              <a:t>Logging</a:t>
            </a:r>
            <a:endParaRPr sz="2400" b="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25" name="Connector 24">
            <a:extLst>
              <a:ext uri="{FF2B5EF4-FFF2-40B4-BE49-F238E27FC236}">
                <a16:creationId xmlns:a16="http://schemas.microsoft.com/office/drawing/2014/main" id="{6B72FF5F-F228-E97D-7DC9-FB4EE08D3179}"/>
              </a:ext>
            </a:extLst>
          </p:cNvPr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CBF179C-03D0-70F0-45EA-BB731F407E42}"/>
              </a:ext>
            </a:extLst>
          </p:cNvPr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0254DA-5F0F-065F-ED57-ADB4D70E3B94}"/>
              </a:ext>
            </a:extLst>
          </p:cNvPr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System &amp; Models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5B7A5-CD07-CA08-6BED-15230267F326}"/>
              </a:ext>
            </a:extLst>
          </p:cNvPr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667CFA-DAD3-E6B7-6131-599015EDAB7A}"/>
              </a:ext>
            </a:extLst>
          </p:cNvPr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14 / 26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8A664B04-2920-3D46-5758-ECAB1264FB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8142973"/>
              </p:ext>
            </p:extLst>
          </p:nvPr>
        </p:nvGraphicFramePr>
        <p:xfrm>
          <a:off x="2382531" y="1286591"/>
          <a:ext cx="7426632" cy="45750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705204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HOW WE TESTED IT · 6 EVALUATION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Preeti Khatri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Testing to find faults, not to confirm we were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49239"/>
            <a:ext cx="2499284" cy="26477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65959"/>
            <a:ext cx="54864" cy="2557561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194560"/>
            <a:ext cx="134714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Unit</a:t>
            </a:r>
            <a:r>
              <a:rPr lang="en-AU" sz="1450" b="1" dirty="0">
                <a:solidFill>
                  <a:srgbClr val="1A1A1A"/>
                </a:solidFill>
                <a:latin typeface="Manrope"/>
              </a:rPr>
              <a:t> Test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41832" y="2728552"/>
            <a:ext cx="1987220" cy="1677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Validation rules</a:t>
            </a:r>
            <a:r>
              <a:rPr lang="en-AU" sz="1100" b="0" dirty="0">
                <a:solidFill>
                  <a:srgbClr val="555F6B"/>
                </a:solidFill>
                <a:latin typeface="Manrope"/>
              </a:rPr>
              <a:t> pretest minor stuff in code so </a:t>
            </a:r>
            <a:r>
              <a:rPr lang="en-AU" sz="1100" dirty="0">
                <a:solidFill>
                  <a:srgbClr val="555F6B"/>
                </a:solidFill>
                <a:latin typeface="Manrope"/>
              </a:rPr>
              <a:t>that it does not break the whole implementation </a:t>
            </a:r>
          </a:p>
          <a:p>
            <a:pPr algn="l">
              <a:lnSpc>
                <a:spcPct val="125000"/>
              </a:lnSpc>
            </a:pP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dirty="0">
                <a:solidFill>
                  <a:srgbClr val="555F6B"/>
                </a:solidFill>
                <a:latin typeface="Manrope"/>
              </a:rPr>
              <a:t>Ensuring the core logic of the system works. </a:t>
            </a:r>
          </a:p>
          <a:p>
            <a:pPr algn="l">
              <a:lnSpc>
                <a:spcPct val="125000"/>
              </a:lnSpc>
            </a:pP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b="0" dirty="0">
                <a:solidFill>
                  <a:srgbClr val="555F6B"/>
                </a:solidFill>
                <a:latin typeface="Manrope"/>
              </a:rPr>
              <a:t>Track actual errors of p</a:t>
            </a:r>
            <a:r>
              <a:rPr lang="en-AU" sz="1100" dirty="0">
                <a:solidFill>
                  <a:srgbClr val="555F6B"/>
                </a:solidFill>
                <a:latin typeface="Manrope"/>
              </a:rPr>
              <a:t>ipelines </a:t>
            </a:r>
            <a:endParaRPr sz="1100" b="0" dirty="0">
              <a:solidFill>
                <a:srgbClr val="555F6B"/>
              </a:solidFill>
              <a:latin typeface="Manrope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3203372" y="3063240"/>
            <a:ext cx="237744" cy="130759"/>
          </a:xfrm>
          <a:prstGeom prst="rightArrow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459404" y="1965959"/>
            <a:ext cx="2499284" cy="255756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59404" y="1965959"/>
            <a:ext cx="54864" cy="2557561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715436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5436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5516" y="2194560"/>
            <a:ext cx="134714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Integration</a:t>
            </a:r>
            <a:r>
              <a:rPr lang="en-AU" sz="1450" b="1" dirty="0">
                <a:solidFill>
                  <a:srgbClr val="1A1A1A"/>
                </a:solidFill>
                <a:latin typeface="Manrope"/>
              </a:rPr>
              <a:t> Test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715436" y="2807208"/>
            <a:ext cx="1987220" cy="14655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Frontend -&gt; API -&gt; DB -&gt; background jobs, end to end</a:t>
            </a: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dirty="0">
                <a:solidFill>
                  <a:srgbClr val="555F6B"/>
                </a:solidFill>
                <a:latin typeface="Manrope"/>
              </a:rPr>
              <a:t>Business logic implementation checks </a:t>
            </a:r>
          </a:p>
          <a:p>
            <a:pPr algn="l">
              <a:lnSpc>
                <a:spcPct val="125000"/>
              </a:lnSpc>
            </a:pP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dirty="0">
                <a:solidFill>
                  <a:srgbClr val="555F6B"/>
                </a:solidFill>
                <a:latin typeface="Manrope"/>
              </a:rPr>
              <a:t>End to end  automated tests</a:t>
            </a:r>
            <a:endParaRPr sz="1100" b="0" dirty="0">
              <a:solidFill>
                <a:srgbClr val="555F6B"/>
              </a:solidFill>
              <a:latin typeface="Manrope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5976976" y="3063240"/>
            <a:ext cx="237744" cy="130759"/>
          </a:xfrm>
          <a:prstGeom prst="rightArrow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33008" y="1965959"/>
            <a:ext cx="2499284" cy="255756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33008" y="1965959"/>
            <a:ext cx="54864" cy="2557561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89040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9040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9120" y="2194560"/>
            <a:ext cx="134714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Data verification</a:t>
            </a:r>
            <a:r>
              <a:rPr lang="en-AU" sz="1450" b="1" dirty="0">
                <a:solidFill>
                  <a:srgbClr val="1A1A1A"/>
                </a:solidFill>
                <a:latin typeface="Manrope"/>
              </a:rPr>
              <a:t> Test 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89040" y="2807208"/>
            <a:ext cx="1987220" cy="14655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Every dashboard number checked against a real institutional</a:t>
            </a:r>
            <a:r>
              <a:rPr lang="en-AU" sz="1100" b="0" dirty="0">
                <a:solidFill>
                  <a:srgbClr val="555F6B"/>
                </a:solidFill>
                <a:latin typeface="Manrope"/>
              </a:rPr>
              <a:t> data</a:t>
            </a:r>
            <a:r>
              <a:rPr sz="1100" b="0" dirty="0">
                <a:solidFill>
                  <a:srgbClr val="555F6B"/>
                </a:solidFill>
                <a:latin typeface="Manrope"/>
              </a:rPr>
              <a:t>.</a:t>
            </a: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1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b="0" dirty="0">
                <a:solidFill>
                  <a:srgbClr val="555F6B"/>
                </a:solidFill>
                <a:latin typeface="Manrope"/>
              </a:rPr>
              <a:t>Manual checks on csv data and checks through the actual system Implementation</a:t>
            </a:r>
          </a:p>
          <a:p>
            <a:pPr algn="l">
              <a:lnSpc>
                <a:spcPct val="125000"/>
              </a:lnSpc>
            </a:pPr>
            <a:endParaRPr sz="1100" b="0" dirty="0">
              <a:solidFill>
                <a:srgbClr val="555F6B"/>
              </a:solidFill>
              <a:latin typeface="Manrope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8750580" y="3063240"/>
            <a:ext cx="237744" cy="130759"/>
          </a:xfrm>
          <a:prstGeom prst="rightArrow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6612" y="1965959"/>
            <a:ext cx="2499284" cy="255756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06612" y="1965959"/>
            <a:ext cx="54864" cy="2557561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62644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62644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2724" y="2194560"/>
            <a:ext cx="13471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User acceptance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644" y="2807208"/>
            <a:ext cx="1987220" cy="830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Walked through with the client, role by role.</a:t>
            </a:r>
            <a:endParaRPr lang="en-AU" sz="11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1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dirty="0">
                <a:solidFill>
                  <a:srgbClr val="555F6B"/>
                </a:solidFill>
                <a:latin typeface="Manrope"/>
              </a:rPr>
              <a:t>Open to client feedbacks </a:t>
            </a:r>
            <a:endParaRPr sz="1100" b="0" dirty="0">
              <a:solidFill>
                <a:srgbClr val="555F6B"/>
              </a:solidFill>
              <a:latin typeface="Manrope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Explainability &amp; Evaluation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18 / 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WHAT WE FOUND · 7.3 KEY DEFECTS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 Khatri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 dirty="0">
                <a:solidFill>
                  <a:srgbClr val="FFFFFF"/>
                </a:solidFill>
                <a:latin typeface="Manrope"/>
              </a:rPr>
              <a:t>The evaluation earned its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IBM Plex Mono"/>
              </a:rPr>
              <a:t>TC-07 — SAME COUNT, TO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Before fix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331720"/>
            <a:ext cx="2011680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26080" y="2331720"/>
            <a:ext cx="2011680" cy="109728"/>
          </a:xfrm>
          <a:prstGeom prst="roundRect">
            <a:avLst>
              <a:gd name="adj" fmla="val 4500"/>
            </a:avLst>
          </a:prstGeom>
          <a:solidFill>
            <a:srgbClr val="D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227685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57,710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620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After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2880360"/>
            <a:ext cx="2011680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80" y="2880360"/>
            <a:ext cx="275600" cy="109728"/>
          </a:xfrm>
          <a:prstGeom prst="roundRect">
            <a:avLst>
              <a:gd name="adj" fmla="val 4500"/>
            </a:avLst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282549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7,926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5120640" cy="2522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555F6B"/>
                </a:solidFill>
                <a:latin typeface="Manrope"/>
              </a:rPr>
              <a:t>An “at-risk” count was tallying assessment rows, not</a:t>
            </a:r>
            <a:r>
              <a:rPr lang="en-AU" sz="1200" b="0" dirty="0">
                <a:solidFill>
                  <a:srgbClr val="555F6B"/>
                </a:solidFill>
                <a:latin typeface="Manrope"/>
              </a:rPr>
              <a:t> the actual distinct numbers of </a:t>
            </a:r>
            <a:r>
              <a:rPr sz="1200" b="0" dirty="0">
                <a:solidFill>
                  <a:srgbClr val="555F6B"/>
                </a:solidFill>
                <a:latin typeface="Manrope"/>
              </a:rPr>
              <a:t>students. Fixed to count unique students.</a:t>
            </a:r>
            <a:endParaRPr lang="en-AU" sz="12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2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2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200" b="0" dirty="0">
                <a:solidFill>
                  <a:srgbClr val="555F6B"/>
                </a:solidFill>
                <a:latin typeface="Manrope"/>
              </a:rPr>
              <a:t>Graceful failure – telling users why exactly it failed instead of showing the unreadable code errors.</a:t>
            </a:r>
          </a:p>
          <a:p>
            <a:pPr algn="l">
              <a:lnSpc>
                <a:spcPct val="125000"/>
              </a:lnSpc>
            </a:pPr>
            <a:endParaRPr lang="en-AU" sz="12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200" b="0" dirty="0">
                <a:solidFill>
                  <a:srgbClr val="555F6B"/>
                </a:solidFill>
                <a:latin typeface="Manrope"/>
              </a:rPr>
              <a:t>Other Minor UI related issues</a:t>
            </a:r>
          </a:p>
          <a:p>
            <a:pPr algn="l">
              <a:lnSpc>
                <a:spcPct val="125000"/>
              </a:lnSpc>
            </a:pPr>
            <a:endParaRPr lang="en-AU" sz="12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lang="en-AU" sz="1200" b="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endParaRPr sz="1200" b="0" dirty="0">
              <a:solidFill>
                <a:srgbClr val="555F6B"/>
              </a:solidFill>
              <a:latin typeface="Manrope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1920240"/>
            <a:ext cx="5242255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1920240"/>
            <a:ext cx="54864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9672" y="2176272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2176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4090111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dirty="0">
                <a:solidFill>
                  <a:srgbClr val="D97706"/>
                </a:solidFill>
                <a:latin typeface="IBM Plex Mono"/>
              </a:rPr>
              <a:t>7.3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2386584"/>
            <a:ext cx="40901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Passing tests, failing predictions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9504" y="2761488"/>
            <a:ext cx="4730191" cy="619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AU" sz="1100" b="0" dirty="0">
                <a:solidFill>
                  <a:srgbClr val="555F6B"/>
                </a:solidFill>
                <a:latin typeface="Manrope"/>
              </a:rPr>
              <a:t>API Silently failed even though test were passing in pipeline/locally </a:t>
            </a:r>
          </a:p>
          <a:p>
            <a:pPr algn="l">
              <a:lnSpc>
                <a:spcPct val="125000"/>
              </a:lnSpc>
            </a:pPr>
            <a:endParaRPr lang="en-AU" sz="11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lang="en-AU" sz="1100" dirty="0">
                <a:solidFill>
                  <a:srgbClr val="555F6B"/>
                </a:solidFill>
                <a:latin typeface="Manrope"/>
              </a:rPr>
              <a:t>Automated test only checked the API response, not the actual result shown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657599"/>
            <a:ext cx="5242255" cy="183794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657600"/>
            <a:ext cx="54864" cy="1829602"/>
          </a:xfrm>
          <a:prstGeom prst="rect">
            <a:avLst/>
          </a:prstGeom>
          <a:solidFill>
            <a:srgbClr val="D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519672" y="3913632"/>
            <a:ext cx="457200" cy="457200"/>
          </a:xfrm>
          <a:prstGeom prst="ellipse">
            <a:avLst/>
          </a:prstGeom>
          <a:solidFill>
            <a:srgbClr val="D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19672" y="39136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3886200"/>
            <a:ext cx="4090111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94F4F"/>
                </a:solidFill>
                <a:latin typeface="IBM Plex Mono"/>
              </a:rPr>
              <a:t>TC-03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123944"/>
            <a:ext cx="40901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Deleted, but still signed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4498848"/>
            <a:ext cx="4730191" cy="830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AU" sz="1100" b="0" dirty="0">
                <a:solidFill>
                  <a:srgbClr val="555F6B"/>
                </a:solidFill>
                <a:latin typeface="Manrope"/>
              </a:rPr>
              <a:t>Users could still perform the actions even though their account was deleted. </a:t>
            </a:r>
          </a:p>
          <a:p>
            <a:pPr algn="l">
              <a:lnSpc>
                <a:spcPct val="125000"/>
              </a:lnSpc>
            </a:pPr>
            <a:endParaRPr lang="en-AU" sz="1100" dirty="0">
              <a:solidFill>
                <a:srgbClr val="555F6B"/>
              </a:solidFill>
              <a:latin typeface="Manrope"/>
            </a:endParaRPr>
          </a:p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555F6B"/>
                </a:solidFill>
                <a:latin typeface="Manrope"/>
              </a:rPr>
              <a:t>A valid JWT outlived the account it belonged to. Now checked against the database, every request.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Evidence &amp; Rigor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7.3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19 / 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DATA PRIVACY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Preeti Khatri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Pseudonymised, and we say so plainly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476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Students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965960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26080" y="1965960"/>
            <a:ext cx="4648014" cy="109728"/>
          </a:xfrm>
          <a:prstGeom prst="roundRect">
            <a:avLst>
              <a:gd name="adj" fmla="val 4500"/>
            </a:avLst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82935" y="191109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7,926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Assessment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514600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926080" y="2514600"/>
            <a:ext cx="6552938" cy="109728"/>
          </a:xfrm>
          <a:prstGeom prst="roundRect">
            <a:avLst>
              <a:gd name="adj" fmla="val 4500"/>
            </a:avLst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82935" y="245973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327,501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4495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55F6B"/>
                </a:solidFill>
                <a:latin typeface="Manrope"/>
              </a:rPr>
              <a:t>Attendance sessions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063240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E1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926080" y="3063240"/>
            <a:ext cx="7619695" cy="109728"/>
          </a:xfrm>
          <a:prstGeom prst="roundRect">
            <a:avLst>
              <a:gd name="adj" fmla="val 4500"/>
            </a:avLst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82935" y="300837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1A1A1A"/>
                </a:solidFill>
                <a:latin typeface="IBM Plex Mono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657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B95A1"/>
                </a:solidFill>
                <a:latin typeface="Manrope"/>
              </a:rPr>
              <a:t>Shown on a log scale — each row is a different unit (students, then records, then sessions).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60520"/>
            <a:ext cx="10820095" cy="1691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4160520"/>
            <a:ext cx="54864" cy="169164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41832" y="441655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nut 23"/>
          <p:cNvSpPr/>
          <p:nvPr/>
        </p:nvSpPr>
        <p:spPr>
          <a:xfrm>
            <a:off x="1074420" y="4489704"/>
            <a:ext cx="192024" cy="192024"/>
          </a:xfrm>
          <a:prstGeom prst="donu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42416" y="4608576"/>
            <a:ext cx="256032" cy="164592"/>
          </a:xfrm>
          <a:prstGeom prst="roundRect">
            <a:avLst>
              <a:gd name="adj" fmla="val 28000"/>
            </a:avLst>
          </a:prstGeom>
          <a:solidFill>
            <a:srgbClr val="2E6E8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" y="5001768"/>
            <a:ext cx="10308031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 err="1">
                <a:solidFill>
                  <a:srgbClr val="555F6B"/>
                </a:solidFill>
                <a:latin typeface="Manrope"/>
              </a:rPr>
              <a:t>Pseudonymised</a:t>
            </a:r>
            <a:r>
              <a:rPr sz="1100" b="0" dirty="0">
                <a:solidFill>
                  <a:srgbClr val="555F6B"/>
                </a:solidFill>
                <a:latin typeface="Manrope"/>
              </a:rPr>
              <a:t> is not </a:t>
            </a:r>
            <a:r>
              <a:rPr sz="1100" b="0" dirty="0" err="1">
                <a:solidFill>
                  <a:srgbClr val="555F6B"/>
                </a:solidFill>
                <a:latin typeface="Manrope"/>
              </a:rPr>
              <a:t>anonymised</a:t>
            </a:r>
            <a:r>
              <a:rPr sz="1100" b="0" dirty="0">
                <a:solidFill>
                  <a:srgbClr val="555F6B"/>
                </a:solidFill>
                <a:latin typeface="Manrope"/>
              </a:rPr>
              <a:t>, and we don't claim otherwise — re-identification risk from combined attributes hasn't been ruled out.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Ethics, Fairness &amp;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21 / 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CFE3EA"/>
                </a:solidFill>
                <a:latin typeface="IBM Plex Mono"/>
              </a:rPr>
              <a:t>CLOSING THE LOOP · 11–12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AU" sz="1100" dirty="0">
                <a:solidFill>
                  <a:srgbClr val="CFE3EA"/>
                </a:solidFill>
                <a:latin typeface="IBM Plex Mono"/>
              </a:rPr>
              <a:t>Presenter: Preeti Khatri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Back to the problems we started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181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A57F"/>
                </a:solidFill>
                <a:latin typeface="IBM Plex Mono"/>
              </a:rPr>
              <a:t>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54864" cy="9601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41832" y="245059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24505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2316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Risk flagged from the start of term, not after a bad grade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9184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3291840"/>
            <a:ext cx="54864" cy="9601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1832" y="354787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" y="35478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4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Every intervention logged and reviewable over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8912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4389120"/>
            <a:ext cx="54864" cy="960120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41832" y="4645152"/>
            <a:ext cx="457200" cy="457200"/>
          </a:xfrm>
          <a:prstGeom prst="ellipse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" y="46451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4617720"/>
            <a:ext cx="4029304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50" b="1" dirty="0">
                <a:solidFill>
                  <a:srgbClr val="1A1A1A"/>
                </a:solidFill>
                <a:latin typeface="Manrope"/>
              </a:rPr>
              <a:t>Reports drawn live from dataset — not five spreadsheets</a:t>
            </a:r>
            <a:r>
              <a:rPr lang="en-AU" sz="1450" b="1" dirty="0">
                <a:solidFill>
                  <a:srgbClr val="1A1A1A"/>
                </a:solidFill>
                <a:latin typeface="Manrope"/>
              </a:rPr>
              <a:t>one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24448" y="1828800"/>
            <a:ext cx="5181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8E"/>
                </a:solidFill>
                <a:latin typeface="IBM Plex Mono"/>
              </a:rPr>
              <a:t>NEXT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4448" y="219456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24448" y="2194560"/>
            <a:ext cx="54864" cy="9601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580480" y="24505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0480" y="24505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0560" y="2521480"/>
            <a:ext cx="4029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dirty="0">
                <a:solidFill>
                  <a:srgbClr val="1A1A1A"/>
                </a:solidFill>
                <a:latin typeface="Manrope"/>
              </a:rPr>
              <a:t>Direct LMS integration, replacing manual ingestion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4448" y="329184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4448" y="3291840"/>
            <a:ext cx="54864" cy="9601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580480" y="354787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0480" y="35478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0224" y="3520440"/>
            <a:ext cx="4029304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450" b="1" dirty="0">
                <a:solidFill>
                  <a:srgbClr val="1A1A1A"/>
                </a:solidFill>
                <a:latin typeface="Manrope"/>
              </a:rPr>
              <a:t>Creating baseline for further research and improvement 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324448" y="4389120"/>
            <a:ext cx="5181448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24448" y="4389120"/>
            <a:ext cx="54864" cy="9601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580480" y="464515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0480" y="46451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0560" y="4617720"/>
            <a:ext cx="4029304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450" b="1" dirty="0">
                <a:solidFill>
                  <a:srgbClr val="1A1A1A"/>
                </a:solidFill>
                <a:latin typeface="Manrope"/>
              </a:rPr>
              <a:t>School wide Implementation and real time feedbacks from the actual users.</a:t>
            </a:r>
            <a:endParaRPr sz="1450" b="1" dirty="0">
              <a:solidFill>
                <a:srgbClr val="1A1A1A"/>
              </a:solidFill>
              <a:latin typeface="Manrope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Impact &amp;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8455" y="6519672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8B95A1"/>
                </a:solidFill>
                <a:latin typeface="IBM Plex Mono"/>
              </a:rPr>
              <a:t>11–12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24 / 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62456"/>
            <a:ext cx="12191695" cy="54864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560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CFE3EA"/>
                </a:solidFill>
                <a:latin typeface="IBM Plex Mono"/>
              </a:rPr>
              <a:t>NOW,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2560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dirty="0">
                <a:solidFill>
                  <a:srgbClr val="CFE3EA"/>
                </a:solidFill>
                <a:latin typeface="IBM Plex Mono"/>
              </a:rPr>
              <a:t>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"/>
            <a:ext cx="108200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FFFFFF"/>
                </a:solidFill>
                <a:latin typeface="Manrope"/>
              </a:rPr>
              <a:t>Let's look at EDAPT v2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820095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965960"/>
            <a:ext cx="54864" cy="91440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41832" y="222199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219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194560"/>
            <a:ext cx="96679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An institution-wide dashboard, filtered down to one subject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10820095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063240"/>
            <a:ext cx="54864" cy="91440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1832" y="331927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319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291840"/>
            <a:ext cx="96679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A single student's prediction, with its SHAP explanation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60520"/>
            <a:ext cx="10820095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4160520"/>
            <a:ext cx="54864" cy="91440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41832" y="441655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44165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389120"/>
            <a:ext cx="96679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Logging an intervention against that prediction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20095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5257800"/>
            <a:ext cx="54864" cy="91440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41832" y="5513832"/>
            <a:ext cx="457200" cy="457200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" y="55138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anrop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486400"/>
            <a:ext cx="96679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  <a:latin typeface="Manrope"/>
              </a:rPr>
              <a:t>Switching the AI provider live, from the admin settings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46520"/>
            <a:ext cx="10820095" cy="0"/>
          </a:xfrm>
          <a:prstGeom prst="line">
            <a:avLst/>
          </a:prstGeom>
          <a:ln w="12700">
            <a:solidFill>
              <a:srgbClr val="E1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85800" y="6428232"/>
            <a:ext cx="320040" cy="45720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43000" y="6519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Impact &amp; Close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8455" y="65196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B95A1"/>
                </a:solidFill>
                <a:latin typeface="IBM Plex Mono"/>
              </a:rPr>
              <a:t>Live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00055" y="65196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8B95A1"/>
                </a:solidFill>
                <a:latin typeface="IBM Plex Mono"/>
              </a:rPr>
              <a:t>25 / 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A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4114800"/>
            <a:ext cx="4114800" cy="4114800"/>
          </a:xfrm>
          <a:prstGeom prst="ellipse">
            <a:avLst/>
          </a:prstGeom>
          <a:solidFill>
            <a:srgbClr val="214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65176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anrope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7D6DF"/>
                </a:solidFill>
                <a:latin typeface="Manrope"/>
              </a:rPr>
              <a:t>Questions — about the model, the incident, or anything in between.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2364</Words>
  <Application>Microsoft Office PowerPoint</Application>
  <PresentationFormat>Widescreen</PresentationFormat>
  <Paragraphs>482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IBM Plex Mono</vt:lpstr>
      <vt:lpstr>Manrope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Nitesh BHATTA</cp:lastModifiedBy>
  <cp:revision>65</cp:revision>
  <dcterms:created xsi:type="dcterms:W3CDTF">2013-01-27T09:14:16Z</dcterms:created>
  <dcterms:modified xsi:type="dcterms:W3CDTF">2026-09-18T03:16:29Z</dcterms:modified>
  <cp:category/>
</cp:coreProperties>
</file>